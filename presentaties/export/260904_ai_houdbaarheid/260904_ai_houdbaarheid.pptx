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Geen verdediging maar een onderzoek: welke kant wijst de historie op, en ligt</a:t>
            </a:r>
          </a:p>
          <a:p>
            <a:r>
              <a:t>ons traject op die lijn.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vraag van de opdrachtgever, in twee blokken. Het verhaal eromheen vertel ik:</a:t>
            </a:r>
          </a:p>
          <a:p>
            <a:r>
              <a:t>een standaardisatietraject duurt jaren en de wereld verandert snel; wie in 1995</a:t>
            </a:r>
          </a:p>
          <a:p>
            <a:r>
              <a:t>het perfecte faxprotocol standaardiseerde had gelijk en verloor toch.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aanklacht wordt overgenomen in plaats van weersproken. De eerste trein die</a:t>
            </a:r>
          </a:p>
          <a:p>
            <a:r>
              <a:t>erover rijdt is de huidige generatie systemen; de rails gaan langer mee. Bij</a:t>
            </a:r>
          </a:p>
          <a:p>
            <a:r>
              <a:t>navraag over wie de rails legt: OKx ontwerpt de maat en het spoorontwerp,</a:t>
            </a:r>
          </a:p>
          <a:p>
            <a:r>
              <a:t>instellingen en leveranciers leggen hun eigen stuk spoor (U1), en de</a:t>
            </a:r>
          </a:p>
          <a:p>
            <a:r>
              <a:t>standaardisatie loopt via AMIGO onder Edustandaard (AP03).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Vier tijdvakken op een plaat, want de geschiedenis is de aanloop en niet het</a:t>
            </a:r>
          </a:p>
          <a:p>
            <a:r>
              <a:t>onderwerp. De lijnen zijn de verhouding, geen meting: onderdelen erbij is</a:t>
            </a:r>
          </a:p>
          <a:p>
            <a:r>
              <a:t>lineair, verbindingen ertussen loopt harder op, en de datavraag van AI komt daar</a:t>
            </a:r>
          </a:p>
          <a:p>
            <a:r>
              <a:t>nog bovenop. Absolute aantallen staan er bewust niet, die zijn niet na te tellen.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Bewust geen groeigrafiek van spoorwegen naast het BNP. Fogel prikte dat verband</a:t>
            </a:r>
          </a:p>
          <a:p>
            <a:r>
              <a:t>in 1964 door en kwam op ongeveer drie procent; die claim houdt geen tegenspraak.</a:t>
            </a:r>
          </a:p>
          <a:p>
            <a:r>
              <a:t>Wat wel houdt is de maatvoering: het spoor lag er al, de afspraak kwam erbij, en</a:t>
            </a:r>
          </a:p>
          <a:p>
            <a:r>
              <a:t>pas daarna reed er iets doorheen. Tegenwerping om voor te zijn: spoorbreedte is</a:t>
            </a:r>
          </a:p>
          <a:p>
            <a:r>
              <a:t>in de literatuur het schoolvoorbeeld van padafhankelijkheid, en in Spanje,</a:t>
            </a:r>
          </a:p>
          <a:p>
            <a:r>
              <a:t>Rusland, India en Ierland werd de vroege maat juist het probleem. Het antwoord</a:t>
            </a:r>
          </a:p>
          <a:p>
            <a:r>
              <a:t>staat op de risicoslide: wie de eis alleen in een techniek vastlegt zit vast,</a:t>
            </a:r>
          </a:p>
          <a:p>
            <a:r>
              <a:t>wie de eis los vastlegt niet.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Hier valt de tegenwerping van de vliegende trein om: ook wie vliegt heeft een</a:t>
            </a:r>
          </a:p>
          <a:p>
            <a:r>
              <a:t>afspraak nodig, en de luchtvaart is strenger gestandaardiseerd dan het spoor.</a:t>
            </a:r>
          </a:p>
          <a:p>
            <a:r>
              <a:t>AI verandert niet of er een maat nodig is, maar hoe snel iedereen erop</a:t>
            </a:r>
          </a:p>
          <a:p>
            <a:r>
              <a:t>overgaat. De grens zit niet in wat AI snapt maar in wat AI mag: een afspraak</a:t>
            </a:r>
          </a:p>
          <a:p>
            <a:r>
              <a:t>tussen instellingen bindt rechtspersonen, en een agent kan daar niet aan</a:t>
            </a:r>
          </a:p>
          <a:p>
            <a:r>
              <a:t>gehouden worden. Een diploma blijft een rechtsfeit. Daarom telt machine-interpreteerbaar, en daarom telt borging.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gouden lijnen zijn het werk: drie koppelingen op een koppelvlak, dat van de</a:t>
            </a:r>
          </a:p>
          <a:p>
            <a:r>
              <a:t>onderwijscatalogus. De vier begrippen eronder zijn waar het echt over gaat;</a:t>
            </a:r>
          </a:p>
          <a:p>
            <a:r>
              <a:t>de koppeling is het vervoermiddel, de betekenis is de lading.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curve is de boodschap: fase 1 tot 3 leveren gestage winst, fase 4 is waar</a:t>
            </a:r>
          </a:p>
          <a:p>
            <a:r>
              <a:t>het door het dak gaat. Daar bouwt AI niet alleen wat wij bedenken, maar komt</a:t>
            </a:r>
          </a:p>
          <a:p>
            <a:r>
              <a:t>het zelf met de volgende toepassing op basis van wat de gekoppelde data laat</a:t>
            </a:r>
          </a:p>
          <a:p>
            <a:r>
              <a:t>zien. De afspraak zelf blijft mensenwerk; alles daarna versnelt.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Drie gevallen, elk met dezelfde vorm: bronnen, agent, resultaat. Wat verschilt</a:t>
            </a:r>
          </a:p>
          <a:p>
            <a:r>
              <a:t>is de schaal waarop vergeleken wordt: vraag naast aanbod, tussen instellingen</a:t>
            </a:r>
          </a:p>
          <a:p>
            <a:r>
              <a:t>en over mbo, hbo en wo heen, en binnen een instelling. Wat gelijk blijft is de</a:t>
            </a:r>
          </a:p>
          <a:p>
            <a:r>
              <a:t>sleutel eronder. Zonder dat raamwerk moet elke vergelijking apart gebouwd</a:t>
            </a:r>
          </a:p>
          <a:p>
            <a:r>
              <a:t>worden, met raamwerk is het telkens dezelfde beweging.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Een lus in plaats van drie losse pijlers: eenduidige betekenis maakt</a:t>
            </a:r>
          </a:p>
          <a:p>
            <a:r>
              <a:t>machine-interpreteerbaar vastleggen mogelijk, dat maakt het uitwerken sneller en</a:t>
            </a:r>
          </a:p>
          <a:p>
            <a:r>
              <a:t>completer, en dat brengt de volgende afspraak eerder binnen bereik. De laatste</a:t>
            </a:r>
          </a:p>
          <a:p>
            <a:r>
              <a:t>pijl is bewust voorzichtig geformuleerd: AI levert sneller een voorstel, mensen</a:t>
            </a:r>
          </a:p>
          <a:p>
            <a:r>
              <a:t>maken er een afspraak van. Anders spreekt deze slide de vorige tegen.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Twee uitgelicht, niet de hele lijst: dit zijn de twee die met deze vraag te</a:t>
            </a:r>
          </a:p>
          <a:p>
            <a:r>
              <a:t>maken hebben, en de vraag rechtsonder haalt op wat er in de zaal leeft.</a:t>
            </a:r>
          </a:p>
          <a:p>
            <a:r>
              <a:t>Het tweede risico is de vraag van de opdrachtgever, maar dan van binnenuit: het</a:t>
            </a:r>
          </a:p>
          <a:p>
            <a:r>
              <a:t>vastlopen ontstaat niet door de techniekkeuze, maar doordat de eis alleen nog in</a:t>
            </a:r>
          </a:p>
          <a:p>
            <a:r>
              <a:t>de vorm van die techniek bestaat. Bij een nieuwe versie of een ander protocol</a:t>
            </a:r>
          </a:p>
          <a:p>
            <a:r>
              <a:t>begint het specificeren dan opnieuw. Bij navraag: AP09 vraagt minimaal twee</a:t>
            </a:r>
          </a:p>
          <a:p>
            <a:r>
              <a:t>instellingen en twee leveranciers voordat iets richting standaard gaat. Die</a:t>
            </a:r>
          </a:p>
          <a:p>
            <a:r>
              <a:t>drempel is nog niet gehaald, en 40 van de 60 issues komen van een auteur.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Uitleg voor wie MCP niet kent. Vijf stappen, van links naar rechts, en het antwoord loopt</a:t>
            </a:r>
          </a:p>
          <a:p>
            <a:r>
              <a:t>terug. Het punt voor een bestuurder: een agent kan alleen handelen met gereedschap dat hem</a:t>
            </a:r>
          </a:p>
          <a:p>
            <a:r>
              <a:t>is aangereikt, en dat gereedschap gebruikt onder de motorkap gewoon het koppelvlak. MCP</a:t>
            </a:r>
          </a:p>
          <a:p>
            <a:r>
              <a:t>verandert dus niets aan wat OKx afspreekt; het is straks een verdiepende set afspraken en</a:t>
            </a:r>
          </a:p>
          <a:p>
            <a:r>
              <a:t>duiding voor agents, bovenop de basis die OKx nu legt.</a:t>
            </a:r>
          </a:p>
          <a:p>
            <a:r>
              <a:t>Bron: modelcontextprotocol.io. MCP is een open standaard, in november 2024 gestart door</a:t>
            </a:r>
          </a:p>
          <a:p>
            <a:r>
              <a:t>Anthropic. Een server biedt tools (uitvoerbare functies), resources (gegevens als context) en</a:t>
            </a:r>
          </a:p>
          <a:p>
            <a:r>
              <a:t>prompts aan; een host zoals Claude, ChatGPT of een eigen applicatie verbindt ermee en laat een</a:t>
            </a:r>
          </a:p>
          <a:p>
            <a:r>
              <a:t>model ze gebruiken. In de spec heet de gereedschapskist "tools"; "gereedschapskist" is de</a:t>
            </a:r>
          </a:p>
          <a:p>
            <a:r>
              <a:t>vertaling uit de teammeeting van 9 september.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Toegevoegd op verzoek van Hans na de teammeeting van 9 september, om mee te nemen binnen Npuls.</a:t>
            </a:r>
          </a:p>
          <a:p>
            <a:r>
              <a:t>Bron: de discussie in die meeting na de risico's. Garik: "Wij gaan nu wel een beetje hard in op</a:t>
            </a:r>
          </a:p>
          <a:p>
            <a:r>
              <a:t>REST-endpoints. En ik zie dat wel clashen met bijvoorbeeld MCP straks. Misschien is het handig om</a:t>
            </a:r>
          </a:p>
          <a:p>
            <a:r>
              <a:t>niet REST-endpoints te noemen, maar meer functies. Om AI-proof te zijn, maar ook techniek-proof."</a:t>
            </a:r>
          </a:p>
          <a:p>
            <a:r>
              <a:t>Antwoord: MCP, het Model Context Protocol, stelt een gereedschapskist beschikbaar aan een agent zoals Claude of ChatGPT, die daar handelingen mee verricht: niet alleen</a:t>
            </a:r>
          </a:p>
          <a:p>
            <a:r>
              <a:t>de specificatie ophalen, maar inschrijven en het rooster ophalen. We beginnen met REST omdat scholen</a:t>
            </a:r>
          </a:p>
          <a:p>
            <a:r>
              <a:t>nu zo functioneren; de vraag "kunnen we dit ook voor MCP doen" gaat komen, ook voor agentic</a:t>
            </a:r>
          </a:p>
          <a:p>
            <a:r>
              <a:t>koppelingen. Nog niet in de bouwfase opnemen: de cyclus is of instellingen dit willen en er geld</a:t>
            </a:r>
          </a:p>
          <a:p>
            <a:r>
              <a:t>voor beschikbaar stellen, dan bouwen leveranciers het. Juist omdat de businesskant los staat van</a:t>
            </a:r>
          </a:p>
          <a:p>
            <a:r>
              <a:t>de techniekkant is die vertaling later goed te maken. Hans vatte samen: zo techniekonafhankelijk</a:t>
            </a:r>
          </a:p>
          <a:p>
            <a:r>
              <a:t>mogelijk voorbereiden, want de twintig procent die we nog niet kunnen inschatten komt.</a:t>
            </a:r>
          </a:p>
          <a:p>
            <a:r>
              <a:t>Een nuance ten opzichte van de meeting: MCP komt niet in plaats van de endpoints maar erbovenop.</a:t>
            </a:r>
          </a:p>
          <a:p>
            <a:r>
              <a:t>Een MCP-server vertaalt de aanroep van een tool naar de onderliggende koppelvlakken; het</a:t>
            </a:r>
          </a:p>
          <a:p>
            <a:r>
              <a:t>koppelvlak blijft dus nodig (bron: modelcontextprotocol.io, architectuur).</a:t>
            </a:r>
          </a:p>
          <a:p>
            <a:r>
              <a:t>Dit is de derde conclusiezin uitgewerkt: we leggen het zo vast dat AI er straks los op kan.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Dezelfde drie regels als aan het begin, zodat het deck sluit waar het opende.</a:t>
            </a:r>
          </a:p>
          <a:p>
            <a:r>
              <a:t>Het paarse blok haalt de vraag van de vorige slide terug in een zin, zodat de</a:t>
            </a:r>
          </a:p>
          <a:p>
            <a:r>
              <a:t>laatste inhoudelijke plaat de conclusie en de vraag tegelijk draagt.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vraag van de opdrachtgever staat er nog een keer, zodat de zaal kan toetsen</a:t>
            </a:r>
          </a:p>
          <a:p>
            <a:r>
              <a:t>of het deck hem beantwoordt. Geen besluit gevraagd in deze ronde; de vraag over</a:t>
            </a:r>
          </a:p>
          <a:p>
            <a:r>
              <a:t>richting en capaciteit komt in een apart gesprek.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Einde. Npuls-afsluiter met logo en licentie.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