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418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rails overleven de stoomtrein. Wat erover rijdt mag veranderen.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4729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gaat op schouders staan. Wij kunnen die schouders zijn.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/>
          <p:nvPr/>
        </p:nvSpPr>
        <p:spPr>
          <a:xfrm>
            <a:off x="456840" y="1495080"/>
            <a:ext cx="1829160" cy="305280"/>
          </a:xfrm>
          <a:custGeom>
            <a:avLst/>
            <a:gdLst/>
            <a:ahLst/>
            <a:rect l="0" t="0" r="r" b="b"/>
            <a:pathLst>
              <a:path w="5081" h="848">
                <a:moveTo>
                  <a:pt x="0" y="0"/>
                </a:moveTo>
                <a:lnTo>
                  <a:pt x="5081" y="0"/>
                </a:lnTo>
                <a:lnTo>
                  <a:pt x="508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2285640" y="1495080"/>
            <a:ext cx="3153240" cy="305280"/>
          </a:xfrm>
          <a:custGeom>
            <a:avLst/>
            <a:gdLst/>
            <a:ahLst/>
            <a:rect l="0" t="0" r="r" b="b"/>
            <a:pathLst>
              <a:path w="8759" h="848">
                <a:moveTo>
                  <a:pt x="0" y="0"/>
                </a:moveTo>
                <a:lnTo>
                  <a:pt x="8759" y="0"/>
                </a:lnTo>
                <a:lnTo>
                  <a:pt x="8759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38520" y="1495080"/>
            <a:ext cx="3105720" cy="305280"/>
          </a:xfrm>
          <a:custGeom>
            <a:avLst/>
            <a:gdLst/>
            <a:ahLst/>
            <a:rect l="0" t="0" r="r" b="b"/>
            <a:pathLst>
              <a:path w="8627" h="848">
                <a:moveTo>
                  <a:pt x="0" y="0"/>
                </a:moveTo>
                <a:lnTo>
                  <a:pt x="8627" y="0"/>
                </a:lnTo>
                <a:lnTo>
                  <a:pt x="862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456840" y="1790640"/>
            <a:ext cx="1829160" cy="19440"/>
          </a:xfrm>
          <a:custGeom>
            <a:avLst/>
            <a:gdLst/>
            <a:ahLst/>
            <a:rect l="0" t="0" r="r" b="b"/>
            <a:pathLst>
              <a:path w="5081" h="54">
                <a:moveTo>
                  <a:pt x="0" y="0"/>
                </a:moveTo>
                <a:lnTo>
                  <a:pt x="5081" y="0"/>
                </a:lnTo>
                <a:lnTo>
                  <a:pt x="508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285640" y="1790640"/>
            <a:ext cx="3153240" cy="19440"/>
          </a:xfrm>
          <a:custGeom>
            <a:avLst/>
            <a:gdLst/>
            <a:ahLst/>
            <a:rect l="0" t="0" r="r" b="b"/>
            <a:pathLst>
              <a:path w="8759" h="54">
                <a:moveTo>
                  <a:pt x="0" y="0"/>
                </a:moveTo>
                <a:lnTo>
                  <a:pt x="8759" y="0"/>
                </a:lnTo>
                <a:lnTo>
                  <a:pt x="87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5438520" y="1790640"/>
            <a:ext cx="3105720" cy="19440"/>
          </a:xfrm>
          <a:custGeom>
            <a:avLst/>
            <a:gdLst/>
            <a:ahLst/>
            <a:rect l="0" t="0" r="r" b="b"/>
            <a:pathLst>
              <a:path w="8627" h="54">
                <a:moveTo>
                  <a:pt x="0" y="0"/>
                </a:moveTo>
                <a:lnTo>
                  <a:pt x="8627" y="0"/>
                </a:lnTo>
                <a:lnTo>
                  <a:pt x="862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56840" y="2543040"/>
            <a:ext cx="1829160" cy="9720"/>
          </a:xfrm>
          <a:custGeom>
            <a:avLst/>
            <a:gdLst/>
            <a:ahLst/>
            <a:rect l="0" t="0" r="r" b="b"/>
            <a:pathLst>
              <a:path w="5081" h="27">
                <a:moveTo>
                  <a:pt x="0" y="0"/>
                </a:moveTo>
                <a:lnTo>
                  <a:pt x="5081" y="0"/>
                </a:lnTo>
                <a:lnTo>
                  <a:pt x="5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285640" y="2543040"/>
            <a:ext cx="3153240" cy="9720"/>
          </a:xfrm>
          <a:custGeom>
            <a:avLst/>
            <a:gdLst/>
            <a:ahLst/>
            <a:rect l="0" t="0" r="r" b="b"/>
            <a:pathLst>
              <a:path w="8759" h="27">
                <a:moveTo>
                  <a:pt x="0" y="0"/>
                </a:moveTo>
                <a:lnTo>
                  <a:pt x="8759" y="0"/>
                </a:lnTo>
                <a:lnTo>
                  <a:pt x="87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5438520" y="2543040"/>
            <a:ext cx="3105720" cy="9720"/>
          </a:xfrm>
          <a:custGeom>
            <a:avLst/>
            <a:gdLst/>
            <a:ahLst/>
            <a:rect l="0" t="0" r="r" b="b"/>
            <a:pathLst>
              <a:path w="8627" h="27">
                <a:moveTo>
                  <a:pt x="0" y="0"/>
                </a:moveTo>
                <a:lnTo>
                  <a:pt x="8627" y="0"/>
                </a:lnTo>
                <a:lnTo>
                  <a:pt x="86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56840" y="3085920"/>
            <a:ext cx="1829160" cy="9720"/>
          </a:xfrm>
          <a:custGeom>
            <a:avLst/>
            <a:gdLst/>
            <a:ahLst/>
            <a:rect l="0" t="0" r="r" b="b"/>
            <a:pathLst>
              <a:path w="5081" h="27">
                <a:moveTo>
                  <a:pt x="0" y="0"/>
                </a:moveTo>
                <a:lnTo>
                  <a:pt x="5081" y="0"/>
                </a:lnTo>
                <a:lnTo>
                  <a:pt x="50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285640" y="3085920"/>
            <a:ext cx="3153240" cy="9720"/>
          </a:xfrm>
          <a:custGeom>
            <a:avLst/>
            <a:gdLst/>
            <a:ahLst/>
            <a:rect l="0" t="0" r="r" b="b"/>
            <a:pathLst>
              <a:path w="8759" h="27">
                <a:moveTo>
                  <a:pt x="0" y="0"/>
                </a:moveTo>
                <a:lnTo>
                  <a:pt x="8759" y="0"/>
                </a:lnTo>
                <a:lnTo>
                  <a:pt x="87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5438520" y="3085920"/>
            <a:ext cx="3105720" cy="9720"/>
          </a:xfrm>
          <a:custGeom>
            <a:avLst/>
            <a:gdLst/>
            <a:ahLst/>
            <a:rect l="0" t="0" r="r" b="b"/>
            <a:pathLst>
              <a:path w="8627" h="27">
                <a:moveTo>
                  <a:pt x="0" y="0"/>
                </a:moveTo>
                <a:lnTo>
                  <a:pt x="8627" y="0"/>
                </a:lnTo>
                <a:lnTo>
                  <a:pt x="86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56840" y="3428640"/>
            <a:ext cx="1829160" cy="10080"/>
          </a:xfrm>
          <a:custGeom>
            <a:avLst/>
            <a:gdLst/>
            <a:ahLst/>
            <a:rect l="0" t="0" r="r" b="b"/>
            <a:pathLst>
              <a:path w="5081" h="28">
                <a:moveTo>
                  <a:pt x="0" y="0"/>
                </a:moveTo>
                <a:lnTo>
                  <a:pt x="5081" y="0"/>
                </a:lnTo>
                <a:lnTo>
                  <a:pt x="50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285640" y="3428640"/>
            <a:ext cx="3153240" cy="10080"/>
          </a:xfrm>
          <a:custGeom>
            <a:avLst/>
            <a:gdLst/>
            <a:ahLst/>
            <a:rect l="0" t="0" r="r" b="b"/>
            <a:pathLst>
              <a:path w="8759" h="28">
                <a:moveTo>
                  <a:pt x="0" y="0"/>
                </a:moveTo>
                <a:lnTo>
                  <a:pt x="8759" y="0"/>
                </a:lnTo>
                <a:lnTo>
                  <a:pt x="87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5438520" y="3428640"/>
            <a:ext cx="3105720" cy="10080"/>
          </a:xfrm>
          <a:custGeom>
            <a:avLst/>
            <a:gdLst/>
            <a:ahLst/>
            <a:rect l="0" t="0" r="r" b="b"/>
            <a:pathLst>
              <a:path w="8627" h="28">
                <a:moveTo>
                  <a:pt x="0" y="0"/>
                </a:moveTo>
                <a:lnTo>
                  <a:pt x="8627" y="0"/>
                </a:lnTo>
                <a:lnTo>
                  <a:pt x="86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439920" y="86292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1574640"/>
            <a:ext cx="660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AFSPRAAK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2389320" y="1574640"/>
            <a:ext cx="99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AL WAS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540400" y="1574640"/>
            <a:ext cx="134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DAARNA KON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1889280"/>
            <a:ext cx="1127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63760" y="2098800"/>
            <a:ext cx="162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Verenigde Staten 1886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2389320" y="1889280"/>
            <a:ext cx="285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Duizenden mijlen spoor, in verschillende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2389320" y="2098800"/>
            <a:ext cx="282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breedtes. Vracht werd bij elke overgang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2389320" y="2298600"/>
            <a:ext cx="876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overgeladen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540400" y="1889280"/>
            <a:ext cx="2595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twee dagen werd ruim 11.000 mijl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540400" y="2098800"/>
            <a:ext cx="328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omgespoord. Daarna reed een wagon over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540400" y="2298600"/>
            <a:ext cx="57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hele net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63760" y="2641680"/>
            <a:ext cx="1817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ISO, jaren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563760" y="2841840"/>
            <a:ext cx="18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60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2389320" y="2641680"/>
            <a:ext cx="342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Schepen, kranen en havens. Elke rederij had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389320" y="2841840"/>
            <a:ext cx="79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eigen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540400" y="2641680"/>
            <a:ext cx="30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doos die op elk schip, elke trein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5540400" y="2841840"/>
            <a:ext cx="706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truck past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563760" y="3184560"/>
            <a:ext cx="1179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jaren 80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2389320" y="3184560"/>
            <a:ext cx="2797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Netwerken die elkaar niet konden lezen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456840" y="3571560"/>
            <a:ext cx="8087400" cy="819720"/>
          </a:xfrm>
          <a:custGeom>
            <a:avLst/>
            <a:gdLst/>
            <a:ahLst/>
            <a:rect l="0" t="0" r="r" b="b"/>
            <a:pathLst>
              <a:path w="22465" h="2277">
                <a:moveTo>
                  <a:pt x="0" y="0"/>
                </a:moveTo>
                <a:lnTo>
                  <a:pt x="22465" y="0"/>
                </a:lnTo>
                <a:lnTo>
                  <a:pt x="22465" y="2277"/>
                </a:lnTo>
                <a:lnTo>
                  <a:pt x="0" y="22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456840" y="35715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56840" y="438120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8534160" y="3571560"/>
            <a:ext cx="10080" cy="819720"/>
          </a:xfrm>
          <a:custGeom>
            <a:avLst/>
            <a:gdLst/>
            <a:ahLst/>
            <a:rect l="0" t="0" r="r" b="b"/>
            <a:pathLst>
              <a:path w="28" h="2277">
                <a:moveTo>
                  <a:pt x="0" y="106"/>
                </a:moveTo>
                <a:lnTo>
                  <a:pt x="0" y="2277"/>
                </a:lnTo>
                <a:lnTo>
                  <a:pt x="28" y="227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56840" y="3571560"/>
            <a:ext cx="10080" cy="819720"/>
          </a:xfrm>
          <a:custGeom>
            <a:avLst/>
            <a:gdLst/>
            <a:ahLst/>
            <a:rect l="0" t="0" r="r" b="b"/>
            <a:pathLst>
              <a:path w="28" h="2277">
                <a:moveTo>
                  <a:pt x="0" y="0"/>
                </a:moveTo>
                <a:lnTo>
                  <a:pt x="0" y="2277"/>
                </a:lnTo>
                <a:lnTo>
                  <a:pt x="28" y="227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5540400" y="3184560"/>
            <a:ext cx="849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internet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634320" y="3795120"/>
            <a:ext cx="8713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In alle drie bestond de techniek al. Wat ontbrak was de afspraak, en de groei kwam erna. </a:t>
            </a:r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34320" y="4033440"/>
            <a:ext cx="4289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schouders te staan. Wij kunnen die schouders zijn.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6" name=""/>
          <p:cNvSpPr/>
          <p:nvPr/>
        </p:nvSpPr>
        <p:spPr>
          <a:xfrm>
            <a:off x="456840" y="1542960"/>
            <a:ext cx="2591280" cy="1895760"/>
          </a:xfrm>
          <a:custGeom>
            <a:avLst/>
            <a:gdLst/>
            <a:ahLst/>
            <a:rect l="0" t="0" r="r" b="b"/>
            <a:pathLst>
              <a:path w="7198" h="5266">
                <a:moveTo>
                  <a:pt x="0" y="5001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7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5001"/>
                </a:lnTo>
                <a:cubicBezTo>
                  <a:pt x="7198" y="5019"/>
                  <a:pt x="7196" y="5036"/>
                  <a:pt x="7193" y="5053"/>
                </a:cubicBezTo>
                <a:cubicBezTo>
                  <a:pt x="7190" y="5070"/>
                  <a:pt x="7185" y="5087"/>
                  <a:pt x="7178" y="5103"/>
                </a:cubicBezTo>
                <a:cubicBezTo>
                  <a:pt x="7171" y="5119"/>
                  <a:pt x="7163" y="5134"/>
                  <a:pt x="7154" y="5148"/>
                </a:cubicBezTo>
                <a:cubicBezTo>
                  <a:pt x="7144" y="5163"/>
                  <a:pt x="7133" y="5176"/>
                  <a:pt x="7121" y="5188"/>
                </a:cubicBezTo>
                <a:cubicBezTo>
                  <a:pt x="7108" y="5201"/>
                  <a:pt x="7095" y="5212"/>
                  <a:pt x="7081" y="5221"/>
                </a:cubicBezTo>
                <a:cubicBezTo>
                  <a:pt x="7066" y="5231"/>
                  <a:pt x="7051" y="5239"/>
                  <a:pt x="7035" y="5246"/>
                </a:cubicBezTo>
                <a:cubicBezTo>
                  <a:pt x="7019" y="5252"/>
                  <a:pt x="7002" y="5257"/>
                  <a:pt x="6985" y="5261"/>
                </a:cubicBezTo>
                <a:cubicBezTo>
                  <a:pt x="6968" y="5264"/>
                  <a:pt x="6951" y="5266"/>
                  <a:pt x="6934" y="5266"/>
                </a:cubicBezTo>
                <a:lnTo>
                  <a:pt x="265" y="5266"/>
                </a:lnTo>
                <a:cubicBezTo>
                  <a:pt x="248" y="5266"/>
                  <a:pt x="231" y="5264"/>
                  <a:pt x="213" y="5261"/>
                </a:cubicBezTo>
                <a:cubicBezTo>
                  <a:pt x="196" y="5257"/>
                  <a:pt x="180" y="5252"/>
                  <a:pt x="164" y="5246"/>
                </a:cubicBezTo>
                <a:cubicBezTo>
                  <a:pt x="148" y="5239"/>
                  <a:pt x="133" y="5231"/>
                  <a:pt x="118" y="5221"/>
                </a:cubicBezTo>
                <a:cubicBezTo>
                  <a:pt x="104" y="5212"/>
                  <a:pt x="90" y="5201"/>
                  <a:pt x="78" y="5188"/>
                </a:cubicBezTo>
                <a:cubicBezTo>
                  <a:pt x="66" y="5176"/>
                  <a:pt x="55" y="5163"/>
                  <a:pt x="45" y="5148"/>
                </a:cubicBezTo>
                <a:cubicBezTo>
                  <a:pt x="35" y="5134"/>
                  <a:pt x="27" y="5119"/>
                  <a:pt x="21" y="5103"/>
                </a:cubicBezTo>
                <a:cubicBezTo>
                  <a:pt x="14" y="5087"/>
                  <a:pt x="9" y="5070"/>
                  <a:pt x="6" y="5053"/>
                </a:cubicBezTo>
                <a:cubicBezTo>
                  <a:pt x="2" y="5036"/>
                  <a:pt x="0" y="5019"/>
                  <a:pt x="0" y="500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39920" y="86292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632520" y="1725480"/>
            <a:ext cx="1553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e86c1"/>
                </a:solidFill>
                <a:latin typeface="Arial"/>
                <a:ea typeface="Arial"/>
              </a:rPr>
              <a:t>Wat AI overneemt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32520" y="2025360"/>
            <a:ext cx="243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Ophalen, vertalen en combineren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632520" y="2253960"/>
            <a:ext cx="2262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Het bouwen van een integratie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3200040" y="1542960"/>
            <a:ext cx="2591280" cy="1895760"/>
          </a:xfrm>
          <a:custGeom>
            <a:avLst/>
            <a:gdLst/>
            <a:ahLst/>
            <a:rect l="0" t="0" r="r" b="b"/>
            <a:pathLst>
              <a:path w="7198" h="5266">
                <a:moveTo>
                  <a:pt x="0" y="5001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7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5001"/>
                </a:lnTo>
                <a:cubicBezTo>
                  <a:pt x="7198" y="5019"/>
                  <a:pt x="7196" y="5036"/>
                  <a:pt x="7193" y="5053"/>
                </a:cubicBezTo>
                <a:cubicBezTo>
                  <a:pt x="7190" y="5070"/>
                  <a:pt x="7185" y="5087"/>
                  <a:pt x="7178" y="5103"/>
                </a:cubicBezTo>
                <a:cubicBezTo>
                  <a:pt x="7171" y="5119"/>
                  <a:pt x="7163" y="5134"/>
                  <a:pt x="7154" y="5148"/>
                </a:cubicBezTo>
                <a:cubicBezTo>
                  <a:pt x="7144" y="5163"/>
                  <a:pt x="7133" y="5176"/>
                  <a:pt x="7121" y="5188"/>
                </a:cubicBezTo>
                <a:cubicBezTo>
                  <a:pt x="7108" y="5201"/>
                  <a:pt x="7095" y="5212"/>
                  <a:pt x="7081" y="5221"/>
                </a:cubicBezTo>
                <a:cubicBezTo>
                  <a:pt x="7066" y="5231"/>
                  <a:pt x="7051" y="5239"/>
                  <a:pt x="7035" y="5246"/>
                </a:cubicBezTo>
                <a:cubicBezTo>
                  <a:pt x="7019" y="5252"/>
                  <a:pt x="7002" y="5257"/>
                  <a:pt x="6985" y="5261"/>
                </a:cubicBezTo>
                <a:cubicBezTo>
                  <a:pt x="6968" y="5264"/>
                  <a:pt x="6951" y="5266"/>
                  <a:pt x="6934" y="5266"/>
                </a:cubicBezTo>
                <a:lnTo>
                  <a:pt x="265" y="5266"/>
                </a:lnTo>
                <a:cubicBezTo>
                  <a:pt x="248" y="5266"/>
                  <a:pt x="231" y="5264"/>
                  <a:pt x="213" y="5261"/>
                </a:cubicBezTo>
                <a:cubicBezTo>
                  <a:pt x="196" y="5257"/>
                  <a:pt x="180" y="5252"/>
                  <a:pt x="164" y="5246"/>
                </a:cubicBezTo>
                <a:cubicBezTo>
                  <a:pt x="148" y="5239"/>
                  <a:pt x="133" y="5231"/>
                  <a:pt x="118" y="5221"/>
                </a:cubicBezTo>
                <a:cubicBezTo>
                  <a:pt x="104" y="5212"/>
                  <a:pt x="90" y="5201"/>
                  <a:pt x="78" y="5188"/>
                </a:cubicBezTo>
                <a:cubicBezTo>
                  <a:pt x="66" y="5176"/>
                  <a:pt x="55" y="5163"/>
                  <a:pt x="45" y="5148"/>
                </a:cubicBezTo>
                <a:cubicBezTo>
                  <a:pt x="35" y="5134"/>
                  <a:pt x="27" y="5119"/>
                  <a:pt x="21" y="5103"/>
                </a:cubicBezTo>
                <a:cubicBezTo>
                  <a:pt x="14" y="5087"/>
                  <a:pt x="9" y="5070"/>
                  <a:pt x="6" y="5053"/>
                </a:cubicBezTo>
                <a:cubicBezTo>
                  <a:pt x="2" y="5036"/>
                  <a:pt x="0" y="5019"/>
                  <a:pt x="0" y="5001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32520" y="2491920"/>
            <a:ext cx="1532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Dat wordt goedkoop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3377520" y="1725480"/>
            <a:ext cx="1944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3377520" y="2025360"/>
            <a:ext cx="168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Wie bron is (U3, AP11)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3377520" y="2253960"/>
            <a:ext cx="2267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een leeruitkomst betekent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3377520" y="2491920"/>
            <a:ext cx="170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een 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5943240" y="1542960"/>
            <a:ext cx="2601000" cy="1895760"/>
          </a:xfrm>
          <a:custGeom>
            <a:avLst/>
            <a:gdLst/>
            <a:ahLst/>
            <a:rect l="0" t="0" r="r" b="b"/>
            <a:pathLst>
              <a:path w="7225" h="5266">
                <a:moveTo>
                  <a:pt x="0" y="5001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001"/>
                </a:lnTo>
                <a:cubicBezTo>
                  <a:pt x="7225" y="5019"/>
                  <a:pt x="7223" y="5036"/>
                  <a:pt x="7220" y="5053"/>
                </a:cubicBezTo>
                <a:cubicBezTo>
                  <a:pt x="7216" y="5070"/>
                  <a:pt x="7211" y="5087"/>
                  <a:pt x="7204" y="5103"/>
                </a:cubicBezTo>
                <a:cubicBezTo>
                  <a:pt x="7198" y="5119"/>
                  <a:pt x="7190" y="5134"/>
                  <a:pt x="7180" y="5148"/>
                </a:cubicBezTo>
                <a:cubicBezTo>
                  <a:pt x="7170" y="5163"/>
                  <a:pt x="7159" y="5176"/>
                  <a:pt x="7147" y="5188"/>
                </a:cubicBezTo>
                <a:cubicBezTo>
                  <a:pt x="7135" y="5201"/>
                  <a:pt x="7121" y="5212"/>
                  <a:pt x="7107" y="5221"/>
                </a:cubicBezTo>
                <a:cubicBezTo>
                  <a:pt x="7093" y="5231"/>
                  <a:pt x="7077" y="5239"/>
                  <a:pt x="7061" y="5246"/>
                </a:cubicBezTo>
                <a:cubicBezTo>
                  <a:pt x="7045" y="5252"/>
                  <a:pt x="7029" y="5257"/>
                  <a:pt x="7012" y="5261"/>
                </a:cubicBezTo>
                <a:cubicBezTo>
                  <a:pt x="6995" y="5264"/>
                  <a:pt x="6977" y="5266"/>
                  <a:pt x="6960" y="5266"/>
                </a:cubicBezTo>
                <a:lnTo>
                  <a:pt x="265" y="5266"/>
                </a:lnTo>
                <a:cubicBezTo>
                  <a:pt x="248" y="5266"/>
                  <a:pt x="231" y="5264"/>
                  <a:pt x="213" y="5261"/>
                </a:cubicBezTo>
                <a:cubicBezTo>
                  <a:pt x="196" y="5257"/>
                  <a:pt x="180" y="5252"/>
                  <a:pt x="164" y="5246"/>
                </a:cubicBezTo>
                <a:cubicBezTo>
                  <a:pt x="148" y="5239"/>
                  <a:pt x="133" y="5231"/>
                  <a:pt x="118" y="5221"/>
                </a:cubicBezTo>
                <a:cubicBezTo>
                  <a:pt x="104" y="5212"/>
                  <a:pt x="90" y="5201"/>
                  <a:pt x="78" y="5188"/>
                </a:cubicBezTo>
                <a:cubicBezTo>
                  <a:pt x="66" y="5176"/>
                  <a:pt x="55" y="5163"/>
                  <a:pt x="45" y="5148"/>
                </a:cubicBezTo>
                <a:cubicBezTo>
                  <a:pt x="35" y="5134"/>
                  <a:pt x="27" y="5119"/>
                  <a:pt x="21" y="5103"/>
                </a:cubicBezTo>
                <a:cubicBezTo>
                  <a:pt x="14" y="5087"/>
                  <a:pt x="9" y="5070"/>
                  <a:pt x="6" y="5053"/>
                </a:cubicBezTo>
                <a:cubicBezTo>
                  <a:pt x="2" y="5036"/>
                  <a:pt x="0" y="5019"/>
                  <a:pt x="0" y="500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3512520" y="2692080"/>
            <a:ext cx="100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rechtsgeldig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122880" y="1725480"/>
            <a:ext cx="1850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er dan verandert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122880" y="2025360"/>
            <a:ext cx="209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Endpointdetail wordt minder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257880" y="2215800"/>
            <a:ext cx="424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waard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122880" y="2454120"/>
            <a:ext cx="2166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betekenislaag wordt meer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257880" y="2644560"/>
            <a:ext cx="424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waard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6122880" y="28825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volgorde blijft: semantiek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56840" y="3571560"/>
            <a:ext cx="8087400" cy="819720"/>
          </a:xfrm>
          <a:custGeom>
            <a:avLst/>
            <a:gdLst/>
            <a:ahLst/>
            <a:rect l="0" t="0" r="r" b="b"/>
            <a:pathLst>
              <a:path w="22465" h="2277">
                <a:moveTo>
                  <a:pt x="0" y="0"/>
                </a:moveTo>
                <a:lnTo>
                  <a:pt x="22465" y="0"/>
                </a:lnTo>
                <a:lnTo>
                  <a:pt x="22465" y="2277"/>
                </a:lnTo>
                <a:lnTo>
                  <a:pt x="0" y="22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56840" y="35715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456840" y="438120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8534160" y="3571560"/>
            <a:ext cx="10080" cy="819720"/>
          </a:xfrm>
          <a:custGeom>
            <a:avLst/>
            <a:gdLst/>
            <a:ahLst/>
            <a:rect l="0" t="0" r="r" b="b"/>
            <a:pathLst>
              <a:path w="28" h="2277">
                <a:moveTo>
                  <a:pt x="0" y="106"/>
                </a:moveTo>
                <a:lnTo>
                  <a:pt x="0" y="2277"/>
                </a:lnTo>
                <a:lnTo>
                  <a:pt x="28" y="227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456840" y="3571560"/>
            <a:ext cx="10080" cy="819720"/>
          </a:xfrm>
          <a:custGeom>
            <a:avLst/>
            <a:gdLst/>
            <a:ahLst/>
            <a:rect l="0" t="0" r="r" b="b"/>
            <a:pathLst>
              <a:path w="28" h="2277">
                <a:moveTo>
                  <a:pt x="0" y="0"/>
                </a:moveTo>
                <a:lnTo>
                  <a:pt x="0" y="2277"/>
                </a:lnTo>
                <a:lnTo>
                  <a:pt x="28" y="227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6257880" y="3072960"/>
            <a:ext cx="58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634320" y="3795120"/>
            <a:ext cx="8375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Een diploma is een rechtsfeit. Daar hoort vastlegging bij, geen kansverdeling. En twee agents die onderling hun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34320" y="4033440"/>
            <a:ext cx="7701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eigen betekenis uitonderhandelen is voorlopig een droom, en als het lukt doen ze het op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0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19" name=""/>
          <p:cNvSpPr/>
          <p:nvPr/>
        </p:nvSpPr>
        <p:spPr>
          <a:xfrm>
            <a:off x="45684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7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6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4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4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6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7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5" y="2873"/>
                  <a:pt x="4892" y="2886"/>
                </a:cubicBezTo>
                <a:cubicBezTo>
                  <a:pt x="4890" y="2900"/>
                  <a:pt x="4885" y="2913"/>
                  <a:pt x="4880" y="2926"/>
                </a:cubicBezTo>
                <a:cubicBezTo>
                  <a:pt x="4875" y="2939"/>
                  <a:pt x="4868" y="2951"/>
                  <a:pt x="4861" y="2963"/>
                </a:cubicBezTo>
                <a:cubicBezTo>
                  <a:pt x="4853" y="2974"/>
                  <a:pt x="4844" y="2985"/>
                  <a:pt x="4834" y="2995"/>
                </a:cubicBezTo>
                <a:cubicBezTo>
                  <a:pt x="4824" y="3004"/>
                  <a:pt x="4814" y="3013"/>
                  <a:pt x="4802" y="3021"/>
                </a:cubicBezTo>
                <a:cubicBezTo>
                  <a:pt x="4791" y="3029"/>
                  <a:pt x="4778" y="3035"/>
                  <a:pt x="4766" y="3041"/>
                </a:cubicBezTo>
                <a:cubicBezTo>
                  <a:pt x="4753" y="3046"/>
                  <a:pt x="4740" y="3050"/>
                  <a:pt x="4726" y="3053"/>
                </a:cubicBezTo>
                <a:cubicBezTo>
                  <a:pt x="4712" y="3055"/>
                  <a:pt x="4699" y="3057"/>
                  <a:pt x="4685" y="3057"/>
                </a:cubicBezTo>
                <a:lnTo>
                  <a:pt x="212" y="3057"/>
                </a:lnTo>
                <a:cubicBezTo>
                  <a:pt x="198" y="3057"/>
                  <a:pt x="185" y="3055"/>
                  <a:pt x="171" y="3053"/>
                </a:cubicBezTo>
                <a:cubicBezTo>
                  <a:pt x="157" y="3050"/>
                  <a:pt x="144" y="3046"/>
                  <a:pt x="131" y="3041"/>
                </a:cubicBezTo>
                <a:cubicBezTo>
                  <a:pt x="118" y="3035"/>
                  <a:pt x="106" y="3029"/>
                  <a:pt x="95" y="3021"/>
                </a:cubicBezTo>
                <a:cubicBezTo>
                  <a:pt x="83" y="3013"/>
                  <a:pt x="72" y="3004"/>
                  <a:pt x="62" y="2995"/>
                </a:cubicBezTo>
                <a:cubicBezTo>
                  <a:pt x="53" y="2985"/>
                  <a:pt x="44" y="2974"/>
                  <a:pt x="36" y="2963"/>
                </a:cubicBezTo>
                <a:cubicBezTo>
                  <a:pt x="28" y="2951"/>
                  <a:pt x="22" y="2939"/>
                  <a:pt x="17" y="2926"/>
                </a:cubicBezTo>
                <a:cubicBezTo>
                  <a:pt x="11" y="2913"/>
                  <a:pt x="7" y="2900"/>
                  <a:pt x="5" y="2886"/>
                </a:cubicBezTo>
                <a:cubicBezTo>
                  <a:pt x="2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5684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439920" y="11008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31508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70760" y="220896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256212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79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256212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230904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341280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2797200" y="220896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3297240" y="240876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676760" y="1833480"/>
            <a:ext cx="1752840" cy="1100520"/>
          </a:xfrm>
          <a:custGeom>
            <a:avLst/>
            <a:gdLst/>
            <a:ahLst/>
            <a:rect l="0" t="0" r="r" b="b"/>
            <a:pathLst>
              <a:path w="4869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7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4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4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6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7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845"/>
                </a:lnTo>
                <a:cubicBezTo>
                  <a:pt x="4869" y="2859"/>
                  <a:pt x="4868" y="2873"/>
                  <a:pt x="4865" y="2886"/>
                </a:cubicBezTo>
                <a:cubicBezTo>
                  <a:pt x="4862" y="2900"/>
                  <a:pt x="4858" y="2913"/>
                  <a:pt x="4853" y="2926"/>
                </a:cubicBezTo>
                <a:cubicBezTo>
                  <a:pt x="4847" y="2939"/>
                  <a:pt x="4841" y="2951"/>
                  <a:pt x="4833" y="2963"/>
                </a:cubicBezTo>
                <a:cubicBezTo>
                  <a:pt x="4825" y="2974"/>
                  <a:pt x="4817" y="2985"/>
                  <a:pt x="4807" y="2995"/>
                </a:cubicBezTo>
                <a:cubicBezTo>
                  <a:pt x="4797" y="3004"/>
                  <a:pt x="4786" y="3013"/>
                  <a:pt x="4775" y="3021"/>
                </a:cubicBezTo>
                <a:cubicBezTo>
                  <a:pt x="4763" y="3029"/>
                  <a:pt x="4751" y="3035"/>
                  <a:pt x="4738" y="3041"/>
                </a:cubicBezTo>
                <a:cubicBezTo>
                  <a:pt x="4725" y="3046"/>
                  <a:pt x="4712" y="3050"/>
                  <a:pt x="4699" y="3053"/>
                </a:cubicBezTo>
                <a:cubicBezTo>
                  <a:pt x="4685" y="3055"/>
                  <a:pt x="4671" y="3057"/>
                  <a:pt x="4657" y="3057"/>
                </a:cubicBezTo>
                <a:lnTo>
                  <a:pt x="211" y="3057"/>
                </a:lnTo>
                <a:cubicBezTo>
                  <a:pt x="197" y="3057"/>
                  <a:pt x="184" y="3055"/>
                  <a:pt x="170" y="3053"/>
                </a:cubicBezTo>
                <a:cubicBezTo>
                  <a:pt x="156" y="3050"/>
                  <a:pt x="143" y="3046"/>
                  <a:pt x="130" y="3041"/>
                </a:cubicBezTo>
                <a:cubicBezTo>
                  <a:pt x="117" y="3035"/>
                  <a:pt x="105" y="3029"/>
                  <a:pt x="94" y="3021"/>
                </a:cubicBezTo>
                <a:cubicBezTo>
                  <a:pt x="82" y="3013"/>
                  <a:pt x="71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7" y="2951"/>
                  <a:pt x="21" y="2939"/>
                  <a:pt x="16" y="2926"/>
                </a:cubicBezTo>
                <a:cubicBezTo>
                  <a:pt x="10" y="2913"/>
                  <a:pt x="6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676760" y="1809720"/>
            <a:ext cx="1752840" cy="1124280"/>
          </a:xfrm>
          <a:custGeom>
            <a:avLst/>
            <a:gdLst/>
            <a:ahLst/>
            <a:rect l="0" t="0" r="r" b="b"/>
            <a:pathLst>
              <a:path w="4869" h="3123">
                <a:moveTo>
                  <a:pt x="0" y="0"/>
                </a:moveTo>
                <a:lnTo>
                  <a:pt x="4869" y="0"/>
                </a:lnTo>
                <a:lnTo>
                  <a:pt x="4869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44164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55155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4914360" y="2208960"/>
            <a:ext cx="1448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 van hoge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4904640" y="2408760"/>
            <a:ext cx="148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kwaliteit, volgens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5057280" y="2618280"/>
            <a:ext cx="1076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OKx-standaard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678168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80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6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678168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65242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76233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6964560" y="220896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7588440" y="2408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456840" y="33336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3336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456840" y="41432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853416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5684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457200" y="303264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634320" y="3557160"/>
            <a:ext cx="87181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AI heeft standaardisatie nodig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want daarmee wordt communiceren makkelijk. Elke stap in deze keten maakt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634320" y="3795120"/>
            <a:ext cx="75247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fase van integratie sneller, en dat 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9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20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6" name=""/>
          <p:cNvSpPr txBox="1"/>
          <p:nvPr/>
        </p:nvSpPr>
        <p:spPr>
          <a:xfrm>
            <a:off x="439920" y="104400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2314440"/>
            <a:ext cx="2095920" cy="305280"/>
          </a:xfrm>
          <a:custGeom>
            <a:avLst/>
            <a:gdLst/>
            <a:ahLst/>
            <a:rect l="0" t="0" r="r" b="b"/>
            <a:pathLst>
              <a:path w="5822" h="848">
                <a:moveTo>
                  <a:pt x="0" y="0"/>
                </a:moveTo>
                <a:lnTo>
                  <a:pt x="5822" y="0"/>
                </a:lnTo>
                <a:lnTo>
                  <a:pt x="582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552400" y="2314440"/>
            <a:ext cx="3029400" cy="305280"/>
          </a:xfrm>
          <a:custGeom>
            <a:avLst/>
            <a:gdLst/>
            <a:ahLst/>
            <a:rect l="0" t="0" r="r" b="b"/>
            <a:pathLst>
              <a:path w="8415" h="848">
                <a:moveTo>
                  <a:pt x="0" y="0"/>
                </a:moveTo>
                <a:lnTo>
                  <a:pt x="8415" y="0"/>
                </a:lnTo>
                <a:lnTo>
                  <a:pt x="841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5581440" y="2314440"/>
            <a:ext cx="2962800" cy="305280"/>
          </a:xfrm>
          <a:custGeom>
            <a:avLst/>
            <a:gdLst/>
            <a:ahLst/>
            <a:rect l="0" t="0" r="r" b="b"/>
            <a:pathLst>
              <a:path w="8230" h="848">
                <a:moveTo>
                  <a:pt x="0" y="0"/>
                </a:moveTo>
                <a:lnTo>
                  <a:pt x="8230" y="0"/>
                </a:lnTo>
                <a:lnTo>
                  <a:pt x="823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56840" y="2609640"/>
            <a:ext cx="2095920" cy="19440"/>
          </a:xfrm>
          <a:custGeom>
            <a:avLst/>
            <a:gdLst/>
            <a:ahLst/>
            <a:rect l="0" t="0" r="r" b="b"/>
            <a:pathLst>
              <a:path w="5822" h="54">
                <a:moveTo>
                  <a:pt x="0" y="0"/>
                </a:moveTo>
                <a:lnTo>
                  <a:pt x="5822" y="0"/>
                </a:lnTo>
                <a:lnTo>
                  <a:pt x="582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52400" y="2609640"/>
            <a:ext cx="3029400" cy="19440"/>
          </a:xfrm>
          <a:custGeom>
            <a:avLst/>
            <a:gdLst/>
            <a:ahLst/>
            <a:rect l="0" t="0" r="r" b="b"/>
            <a:pathLst>
              <a:path w="8415" h="54">
                <a:moveTo>
                  <a:pt x="0" y="0"/>
                </a:moveTo>
                <a:lnTo>
                  <a:pt x="8415" y="0"/>
                </a:lnTo>
                <a:lnTo>
                  <a:pt x="841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5581440" y="2609640"/>
            <a:ext cx="2962800" cy="19440"/>
          </a:xfrm>
          <a:custGeom>
            <a:avLst/>
            <a:gdLst/>
            <a:ahLst/>
            <a:rect l="0" t="0" r="r" b="b"/>
            <a:pathLst>
              <a:path w="8230" h="54">
                <a:moveTo>
                  <a:pt x="0" y="0"/>
                </a:moveTo>
                <a:lnTo>
                  <a:pt x="8230" y="0"/>
                </a:lnTo>
                <a:lnTo>
                  <a:pt x="82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456840" y="314316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2552400" y="314316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5581440" y="314316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56840" y="367632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552400" y="3676320"/>
            <a:ext cx="3029400" cy="10080"/>
          </a:xfrm>
          <a:custGeom>
            <a:avLst/>
            <a:gdLst/>
            <a:ahLst/>
            <a:rect l="0" t="0" r="r" b="b"/>
            <a:pathLst>
              <a:path w="8415" h="28">
                <a:moveTo>
                  <a:pt x="0" y="0"/>
                </a:moveTo>
                <a:lnTo>
                  <a:pt x="8415" y="0"/>
                </a:lnTo>
                <a:lnTo>
                  <a:pt x="84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5581440" y="3676320"/>
            <a:ext cx="2962800" cy="10080"/>
          </a:xfrm>
          <a:custGeom>
            <a:avLst/>
            <a:gdLst/>
            <a:ahLst/>
            <a:rect l="0" t="0" r="r" b="b"/>
            <a:pathLst>
              <a:path w="8230" h="28">
                <a:moveTo>
                  <a:pt x="0" y="0"/>
                </a:moveTo>
                <a:lnTo>
                  <a:pt x="8230" y="0"/>
                </a:lnTo>
                <a:lnTo>
                  <a:pt x="82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56840" y="420048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552400" y="4200480"/>
            <a:ext cx="3029400" cy="9720"/>
          </a:xfrm>
          <a:custGeom>
            <a:avLst/>
            <a:gdLst/>
            <a:ahLst/>
            <a:rect l="0" t="0" r="r" b="b"/>
            <a:pathLst>
              <a:path w="8415" h="27">
                <a:moveTo>
                  <a:pt x="0" y="0"/>
                </a:moveTo>
                <a:lnTo>
                  <a:pt x="8415" y="0"/>
                </a:lnTo>
                <a:lnTo>
                  <a:pt x="841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5581440" y="4200480"/>
            <a:ext cx="2962800" cy="9720"/>
          </a:xfrm>
          <a:custGeom>
            <a:avLst/>
            <a:gdLst/>
            <a:ahLst/>
            <a:rect l="0" t="0" r="r" b="b"/>
            <a:pathLst>
              <a:path w="8230" h="27">
                <a:moveTo>
                  <a:pt x="0" y="0"/>
                </a:moveTo>
                <a:lnTo>
                  <a:pt x="8230" y="0"/>
                </a:lnTo>
                <a:lnTo>
                  <a:pt x="82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457200" y="183744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239364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2658960" y="239364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689800" y="239364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27140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658960" y="27140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2658960" y="290448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689800" y="2714040"/>
            <a:ext cx="311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Focus en capaciteit voor het uitwerken van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89800" y="2904480"/>
            <a:ext cx="759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32378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563760" y="342828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2658960" y="32378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89800" y="3237840"/>
            <a:ext cx="2957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 vastleggen,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89800" y="3428280"/>
            <a:ext cx="2548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OEAPI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63760" y="376164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2658960" y="3761640"/>
            <a:ext cx="3211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wat er hierna over het spoor rijdt: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2658960" y="3961800"/>
            <a:ext cx="2038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speciﬁcatie werkt nu al met AI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689800" y="3761640"/>
            <a:ext cx="2608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van het GitHub-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689800" y="3961800"/>
            <a:ext cx="1393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