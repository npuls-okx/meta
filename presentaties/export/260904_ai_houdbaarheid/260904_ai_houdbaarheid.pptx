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133000" y="2013480"/>
            <a:ext cx="606024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Bouwen we het verkeerde?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771720" y="307296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4-9-2026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114560" y="2532960"/>
            <a:ext cx="820440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374151"/>
                </a:solidFill>
                <a:latin typeface="Arial"/>
                <a:ea typeface="Arial"/>
              </a:rPr>
              <a:t>Geen koerswijziging in de richting, wel een keuze over welke gaten voor v0.1.0 dicht moeten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/>
          <p:nvPr/>
        </p:nvSpPr>
        <p:spPr>
          <a:xfrm>
            <a:off x="456840" y="1466640"/>
            <a:ext cx="7915680" cy="686160"/>
          </a:xfrm>
          <a:custGeom>
            <a:avLst/>
            <a:gdLst/>
            <a:ahLst/>
            <a:rect l="0" t="0" r="r" b="b"/>
            <a:pathLst>
              <a:path w="21988" h="1906">
                <a:moveTo>
                  <a:pt x="0" y="1800"/>
                </a:moveTo>
                <a:lnTo>
                  <a:pt x="0" y="106"/>
                </a:lnTo>
                <a:cubicBezTo>
                  <a:pt x="0" y="92"/>
                  <a:pt x="3" y="78"/>
                  <a:pt x="9" y="65"/>
                </a:cubicBezTo>
                <a:cubicBezTo>
                  <a:pt x="14" y="52"/>
                  <a:pt x="22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21883" y="0"/>
                </a:lnTo>
                <a:cubicBezTo>
                  <a:pt x="21897" y="0"/>
                  <a:pt x="21910" y="3"/>
                  <a:pt x="21923" y="8"/>
                </a:cubicBezTo>
                <a:cubicBezTo>
                  <a:pt x="21936" y="14"/>
                  <a:pt x="21947" y="21"/>
                  <a:pt x="21957" y="31"/>
                </a:cubicBezTo>
                <a:cubicBezTo>
                  <a:pt x="21967" y="41"/>
                  <a:pt x="21975" y="52"/>
                  <a:pt x="21980" y="65"/>
                </a:cubicBezTo>
                <a:cubicBezTo>
                  <a:pt x="21986" y="78"/>
                  <a:pt x="21988" y="92"/>
                  <a:pt x="21988" y="106"/>
                </a:cubicBezTo>
                <a:lnTo>
                  <a:pt x="21988" y="1800"/>
                </a:lnTo>
                <a:cubicBezTo>
                  <a:pt x="21988" y="1814"/>
                  <a:pt x="21986" y="1828"/>
                  <a:pt x="21980" y="1841"/>
                </a:cubicBezTo>
                <a:cubicBezTo>
                  <a:pt x="21975" y="1854"/>
                  <a:pt x="21967" y="1865"/>
                  <a:pt x="21957" y="1875"/>
                </a:cubicBezTo>
                <a:cubicBezTo>
                  <a:pt x="21947" y="1885"/>
                  <a:pt x="21936" y="1893"/>
                  <a:pt x="21923" y="1898"/>
                </a:cubicBezTo>
                <a:cubicBezTo>
                  <a:pt x="21910" y="1903"/>
                  <a:pt x="21897" y="1906"/>
                  <a:pt x="21883" y="1906"/>
                </a:cubicBezTo>
                <a:lnTo>
                  <a:pt x="106" y="1906"/>
                </a:lnTo>
                <a:cubicBezTo>
                  <a:pt x="92" y="1906"/>
                  <a:pt x="79" y="1903"/>
                  <a:pt x="66" y="1898"/>
                </a:cubicBezTo>
                <a:cubicBezTo>
                  <a:pt x="53" y="1893"/>
                  <a:pt x="41" y="1885"/>
                  <a:pt x="31" y="1875"/>
                </a:cubicBezTo>
                <a:cubicBezTo>
                  <a:pt x="22" y="1865"/>
                  <a:pt x="14" y="1854"/>
                  <a:pt x="9" y="1841"/>
                </a:cubicBezTo>
                <a:cubicBezTo>
                  <a:pt x="3" y="1828"/>
                  <a:pt x="0" y="1814"/>
                  <a:pt x="0" y="1800"/>
                </a:cubicBez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439920" y="834480"/>
            <a:ext cx="1850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Conclusie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640080" y="1611000"/>
            <a:ext cx="71056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Geen stoomtrein. OKx maakt afspraken over betekenis en eigenaarschap. Die overleven een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85640" y="2190600"/>
            <a:ext cx="7886880" cy="657720"/>
          </a:xfrm>
          <a:custGeom>
            <a:avLst/>
            <a:gdLst/>
            <a:ahLst/>
            <a:rect l="0" t="0" r="r" b="b"/>
            <a:pathLst>
              <a:path w="21908" h="1827">
                <a:moveTo>
                  <a:pt x="0" y="1721"/>
                </a:moveTo>
                <a:lnTo>
                  <a:pt x="0" y="106"/>
                </a:lnTo>
                <a:cubicBezTo>
                  <a:pt x="0" y="92"/>
                  <a:pt x="1" y="78"/>
                  <a:pt x="2" y="65"/>
                </a:cubicBezTo>
                <a:cubicBezTo>
                  <a:pt x="3" y="52"/>
                  <a:pt x="5" y="41"/>
                  <a:pt x="8" y="31"/>
                </a:cubicBezTo>
                <a:cubicBezTo>
                  <a:pt x="10" y="21"/>
                  <a:pt x="13" y="13"/>
                  <a:pt x="16" y="8"/>
                </a:cubicBezTo>
                <a:cubicBezTo>
                  <a:pt x="19" y="3"/>
                  <a:pt x="23" y="0"/>
                  <a:pt x="26" y="0"/>
                </a:cubicBezTo>
                <a:lnTo>
                  <a:pt x="21803" y="0"/>
                </a:lnTo>
                <a:cubicBezTo>
                  <a:pt x="21817" y="0"/>
                  <a:pt x="21830" y="3"/>
                  <a:pt x="21843" y="8"/>
                </a:cubicBezTo>
                <a:cubicBezTo>
                  <a:pt x="21856" y="13"/>
                  <a:pt x="21867" y="21"/>
                  <a:pt x="21877" y="31"/>
                </a:cubicBezTo>
                <a:cubicBezTo>
                  <a:pt x="21887" y="41"/>
                  <a:pt x="21895" y="52"/>
                  <a:pt x="21900" y="65"/>
                </a:cubicBezTo>
                <a:cubicBezTo>
                  <a:pt x="21906" y="78"/>
                  <a:pt x="21908" y="92"/>
                  <a:pt x="21908" y="106"/>
                </a:cubicBezTo>
                <a:lnTo>
                  <a:pt x="21908" y="1721"/>
                </a:lnTo>
                <a:cubicBezTo>
                  <a:pt x="21908" y="1735"/>
                  <a:pt x="21906" y="1748"/>
                  <a:pt x="21900" y="1761"/>
                </a:cubicBezTo>
                <a:cubicBezTo>
                  <a:pt x="21895" y="1774"/>
                  <a:pt x="21887" y="1786"/>
                  <a:pt x="21877" y="1796"/>
                </a:cubicBezTo>
                <a:cubicBezTo>
                  <a:pt x="21867" y="1805"/>
                  <a:pt x="21856" y="1813"/>
                  <a:pt x="21843" y="1818"/>
                </a:cubicBezTo>
                <a:cubicBezTo>
                  <a:pt x="21830" y="1824"/>
                  <a:pt x="21817" y="1827"/>
                  <a:pt x="21803" y="1827"/>
                </a:cubicBezTo>
                <a:lnTo>
                  <a:pt x="26" y="1827"/>
                </a:lnTo>
                <a:cubicBezTo>
                  <a:pt x="23" y="1827"/>
                  <a:pt x="19" y="1824"/>
                  <a:pt x="16" y="1818"/>
                </a:cubicBezTo>
                <a:cubicBezTo>
                  <a:pt x="13" y="1813"/>
                  <a:pt x="10" y="1805"/>
                  <a:pt x="8" y="1796"/>
                </a:cubicBezTo>
                <a:cubicBezTo>
                  <a:pt x="5" y="1786"/>
                  <a:pt x="3" y="1774"/>
                  <a:pt x="2" y="1761"/>
                </a:cubicBezTo>
                <a:cubicBezTo>
                  <a:pt x="1" y="1748"/>
                  <a:pt x="0" y="1735"/>
                  <a:pt x="0" y="1721"/>
                </a:cubicBezTo>
                <a:close/>
              </a:path>
            </a:pathLst>
          </a:custGeom>
          <a:solidFill>
            <a:srgbClr val="eef4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2190600"/>
            <a:ext cx="7915680" cy="657720"/>
          </a:xfrm>
          <a:custGeom>
            <a:avLst/>
            <a:gdLst/>
            <a:ahLst/>
            <a:rect l="0" t="0" r="r" b="b"/>
            <a:pathLst>
              <a:path w="21988" h="1827">
                <a:moveTo>
                  <a:pt x="0" y="0"/>
                </a:moveTo>
                <a:lnTo>
                  <a:pt x="21988" y="0"/>
                </a:lnTo>
                <a:lnTo>
                  <a:pt x="21988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640080" y="1830240"/>
            <a:ext cx="44128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technologiewissel; de techniek eromheen is vervangbaar.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696960" y="2332440"/>
            <a:ext cx="85046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Ook de verhouding klopt: het zwaartepunt van het werk ligt al op de betekenislaag, niet op de technische uitwerking.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/>
          <p:nvPr/>
        </p:nvSpPr>
        <p:spPr>
          <a:xfrm>
            <a:off x="485640" y="2885760"/>
            <a:ext cx="7886880" cy="657720"/>
          </a:xfrm>
          <a:custGeom>
            <a:avLst/>
            <a:gdLst/>
            <a:ahLst/>
            <a:rect l="0" t="0" r="r" b="b"/>
            <a:pathLst>
              <a:path w="21908" h="1827">
                <a:moveTo>
                  <a:pt x="0" y="1721"/>
                </a:moveTo>
                <a:lnTo>
                  <a:pt x="0" y="106"/>
                </a:lnTo>
                <a:cubicBezTo>
                  <a:pt x="0" y="92"/>
                  <a:pt x="1" y="79"/>
                  <a:pt x="2" y="66"/>
                </a:cubicBezTo>
                <a:cubicBezTo>
                  <a:pt x="3" y="53"/>
                  <a:pt x="5" y="41"/>
                  <a:pt x="8" y="31"/>
                </a:cubicBezTo>
                <a:cubicBezTo>
                  <a:pt x="10" y="21"/>
                  <a:pt x="13" y="14"/>
                  <a:pt x="16" y="8"/>
                </a:cubicBezTo>
                <a:cubicBezTo>
                  <a:pt x="19" y="3"/>
                  <a:pt x="23" y="0"/>
                  <a:pt x="26" y="0"/>
                </a:cubicBezTo>
                <a:lnTo>
                  <a:pt x="21803" y="0"/>
                </a:lnTo>
                <a:cubicBezTo>
                  <a:pt x="21817" y="0"/>
                  <a:pt x="21830" y="3"/>
                  <a:pt x="21843" y="8"/>
                </a:cubicBezTo>
                <a:cubicBezTo>
                  <a:pt x="21856" y="14"/>
                  <a:pt x="21867" y="21"/>
                  <a:pt x="21877" y="31"/>
                </a:cubicBezTo>
                <a:cubicBezTo>
                  <a:pt x="21887" y="41"/>
                  <a:pt x="21895" y="53"/>
                  <a:pt x="21900" y="66"/>
                </a:cubicBezTo>
                <a:cubicBezTo>
                  <a:pt x="21906" y="79"/>
                  <a:pt x="21908" y="92"/>
                  <a:pt x="21908" y="106"/>
                </a:cubicBezTo>
                <a:lnTo>
                  <a:pt x="21908" y="1721"/>
                </a:lnTo>
                <a:cubicBezTo>
                  <a:pt x="21908" y="1735"/>
                  <a:pt x="21906" y="1749"/>
                  <a:pt x="21900" y="1762"/>
                </a:cubicBezTo>
                <a:cubicBezTo>
                  <a:pt x="21895" y="1775"/>
                  <a:pt x="21887" y="1786"/>
                  <a:pt x="21877" y="1796"/>
                </a:cubicBezTo>
                <a:cubicBezTo>
                  <a:pt x="21867" y="1806"/>
                  <a:pt x="21856" y="1814"/>
                  <a:pt x="21843" y="1819"/>
                </a:cubicBezTo>
                <a:cubicBezTo>
                  <a:pt x="21830" y="1824"/>
                  <a:pt x="21817" y="1827"/>
                  <a:pt x="21803" y="1827"/>
                </a:cubicBezTo>
                <a:lnTo>
                  <a:pt x="26" y="1827"/>
                </a:lnTo>
                <a:cubicBezTo>
                  <a:pt x="23" y="1827"/>
                  <a:pt x="19" y="1824"/>
                  <a:pt x="16" y="1819"/>
                </a:cubicBezTo>
                <a:cubicBezTo>
                  <a:pt x="13" y="1814"/>
                  <a:pt x="10" y="1806"/>
                  <a:pt x="8" y="1796"/>
                </a:cubicBezTo>
                <a:cubicBezTo>
                  <a:pt x="5" y="1786"/>
                  <a:pt x="3" y="1775"/>
                  <a:pt x="2" y="1762"/>
                </a:cubicBezTo>
                <a:cubicBezTo>
                  <a:pt x="1" y="1749"/>
                  <a:pt x="0" y="1735"/>
                  <a:pt x="0" y="1721"/>
                </a:cubicBezTo>
                <a:close/>
              </a:path>
            </a:pathLst>
          </a:custGeom>
          <a:solidFill>
            <a:srgbClr val="fdf3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/>
          <p:nvPr/>
        </p:nvSpPr>
        <p:spPr>
          <a:xfrm>
            <a:off x="456840" y="2885760"/>
            <a:ext cx="7915680" cy="657720"/>
          </a:xfrm>
          <a:custGeom>
            <a:avLst/>
            <a:gdLst/>
            <a:ahLst/>
            <a:rect l="0" t="0" r="r" b="b"/>
            <a:pathLst>
              <a:path w="21988" h="1827">
                <a:moveTo>
                  <a:pt x="0" y="0"/>
                </a:moveTo>
                <a:lnTo>
                  <a:pt x="21988" y="0"/>
                </a:lnTo>
                <a:lnTo>
                  <a:pt x="21988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696960" y="2542320"/>
            <a:ext cx="3211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Dat is precies de laag die zijn waarde houdt.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696960" y="3027960"/>
            <a:ext cx="8493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Wat de vraag wel blootlegt zijn vier gaten. Drie ervan staan los van AI en zijn al bekend. Het vierde wordt door AI wel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456840" y="3647880"/>
            <a:ext cx="7915680" cy="771840"/>
          </a:xfrm>
          <a:custGeom>
            <a:avLst/>
            <a:gdLst/>
            <a:ahLst/>
            <a:rect l="0" t="0" r="r" b="b"/>
            <a:pathLst>
              <a:path w="21988" h="2144">
                <a:moveTo>
                  <a:pt x="0" y="0"/>
                </a:moveTo>
                <a:lnTo>
                  <a:pt x="21988" y="0"/>
                </a:lnTo>
                <a:lnTo>
                  <a:pt x="21988" y="2144"/>
                </a:lnTo>
                <a:lnTo>
                  <a:pt x="0" y="214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456840" y="364788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456840" y="4410000"/>
            <a:ext cx="7915680" cy="9720"/>
          </a:xfrm>
          <a:custGeom>
            <a:avLst/>
            <a:gdLst/>
            <a:ahLst/>
            <a:rect l="0" t="0" r="r" b="b"/>
            <a:pathLst>
              <a:path w="21988" h="27">
                <a:moveTo>
                  <a:pt x="0" y="0"/>
                </a:moveTo>
                <a:lnTo>
                  <a:pt x="21988" y="0"/>
                </a:lnTo>
                <a:lnTo>
                  <a:pt x="219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/>
          <p:nvPr/>
        </p:nvSpPr>
        <p:spPr>
          <a:xfrm>
            <a:off x="8362800" y="3647880"/>
            <a:ext cx="9720" cy="771840"/>
          </a:xfrm>
          <a:custGeom>
            <a:avLst/>
            <a:gdLst/>
            <a:ahLst/>
            <a:rect l="0" t="0" r="r" b="b"/>
            <a:pathLst>
              <a:path w="27" h="2144">
                <a:moveTo>
                  <a:pt x="0" y="106"/>
                </a:moveTo>
                <a:lnTo>
                  <a:pt x="0" y="2144"/>
                </a:lnTo>
                <a:lnTo>
                  <a:pt x="27" y="2144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/>
          <p:nvPr/>
        </p:nvSpPr>
        <p:spPr>
          <a:xfrm>
            <a:off x="456840" y="3647880"/>
            <a:ext cx="10080" cy="771840"/>
          </a:xfrm>
          <a:custGeom>
            <a:avLst/>
            <a:gdLst/>
            <a:ahLst/>
            <a:rect l="0" t="0" r="r" b="b"/>
            <a:pathLst>
              <a:path w="28" h="2144">
                <a:moveTo>
                  <a:pt x="0" y="0"/>
                </a:moveTo>
                <a:lnTo>
                  <a:pt x="0" y="2144"/>
                </a:lnTo>
                <a:lnTo>
                  <a:pt x="28" y="214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696960" y="3228120"/>
            <a:ext cx="672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urgenter.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634320" y="3861000"/>
            <a:ext cx="8704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Twee besluiten gevraagd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welke gaten voor de release-PR van v0.1.0 dicht moeten, en bij wie het beheer na Npuls komt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634320" y="4070520"/>
            <a:ext cx="33901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te liggen. Aanbeveling en opties op slide 8 en 9.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2" name=""/>
          <p:cNvSpPr/>
          <p:nvPr/>
        </p:nvSpPr>
        <p:spPr>
          <a:xfrm>
            <a:off x="456840" y="1523880"/>
            <a:ext cx="7582320" cy="609840"/>
          </a:xfrm>
          <a:custGeom>
            <a:avLst/>
            <a:gdLst/>
            <a:ahLst/>
            <a:rect l="0" t="0" r="r" b="b"/>
            <a:pathLst>
              <a:path w="21062" h="1694">
                <a:moveTo>
                  <a:pt x="0" y="0"/>
                </a:moveTo>
                <a:lnTo>
                  <a:pt x="21062" y="0"/>
                </a:lnTo>
                <a:lnTo>
                  <a:pt x="21062" y="1694"/>
                </a:lnTo>
                <a:lnTo>
                  <a:pt x="0" y="169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456840" y="1523880"/>
            <a:ext cx="7582320" cy="38520"/>
          </a:xfrm>
          <a:custGeom>
            <a:avLst/>
            <a:gdLst/>
            <a:ahLst/>
            <a:rect l="0" t="0" r="r" b="b"/>
            <a:pathLst>
              <a:path w="21062" h="107">
                <a:moveTo>
                  <a:pt x="0" y="0"/>
                </a:moveTo>
                <a:lnTo>
                  <a:pt x="21062" y="0"/>
                </a:lnTo>
                <a:lnTo>
                  <a:pt x="2106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456840" y="2124000"/>
            <a:ext cx="7582320" cy="9720"/>
          </a:xfrm>
          <a:custGeom>
            <a:avLst/>
            <a:gdLst/>
            <a:ahLst/>
            <a:rect l="0" t="0" r="r" b="b"/>
            <a:pathLst>
              <a:path w="21062" h="27">
                <a:moveTo>
                  <a:pt x="0" y="0"/>
                </a:moveTo>
                <a:lnTo>
                  <a:pt x="21062" y="0"/>
                </a:lnTo>
                <a:lnTo>
                  <a:pt x="210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8029440" y="1523880"/>
            <a:ext cx="9720" cy="609840"/>
          </a:xfrm>
          <a:custGeom>
            <a:avLst/>
            <a:gdLst/>
            <a:ahLst/>
            <a:rect l="0" t="0" r="r" b="b"/>
            <a:pathLst>
              <a:path w="27" h="1694">
                <a:moveTo>
                  <a:pt x="0" y="106"/>
                </a:moveTo>
                <a:lnTo>
                  <a:pt x="0" y="1694"/>
                </a:lnTo>
                <a:lnTo>
                  <a:pt x="27" y="1694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456840" y="1523880"/>
            <a:ext cx="10080" cy="609840"/>
          </a:xfrm>
          <a:custGeom>
            <a:avLst/>
            <a:gdLst/>
            <a:ahLst/>
            <a:rect l="0" t="0" r="r" b="b"/>
            <a:pathLst>
              <a:path w="28" h="1694">
                <a:moveTo>
                  <a:pt x="0" y="0"/>
                </a:moveTo>
                <a:lnTo>
                  <a:pt x="0" y="1694"/>
                </a:lnTo>
                <a:lnTo>
                  <a:pt x="28" y="169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439920" y="910440"/>
            <a:ext cx="1739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vraag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/>
          <p:nvPr/>
        </p:nvSpPr>
        <p:spPr>
          <a:xfrm>
            <a:off x="456840" y="2257200"/>
            <a:ext cx="3591360" cy="305280"/>
          </a:xfrm>
          <a:custGeom>
            <a:avLst/>
            <a:gdLst/>
            <a:ahLst/>
            <a:rect l="0" t="0" r="r" b="b"/>
            <a:pathLst>
              <a:path w="9976" h="848">
                <a:moveTo>
                  <a:pt x="0" y="0"/>
                </a:moveTo>
                <a:lnTo>
                  <a:pt x="9976" y="0"/>
                </a:lnTo>
                <a:lnTo>
                  <a:pt x="9976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4047840" y="2257200"/>
            <a:ext cx="4324680" cy="305280"/>
          </a:xfrm>
          <a:custGeom>
            <a:avLst/>
            <a:gdLst/>
            <a:ahLst/>
            <a:rect l="0" t="0" r="r" b="b"/>
            <a:pathLst>
              <a:path w="12013" h="848">
                <a:moveTo>
                  <a:pt x="0" y="0"/>
                </a:moveTo>
                <a:lnTo>
                  <a:pt x="12013" y="0"/>
                </a:lnTo>
                <a:lnTo>
                  <a:pt x="12013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456840" y="2552400"/>
            <a:ext cx="3591360" cy="19440"/>
          </a:xfrm>
          <a:custGeom>
            <a:avLst/>
            <a:gdLst/>
            <a:ahLst/>
            <a:rect l="0" t="0" r="r" b="b"/>
            <a:pathLst>
              <a:path w="9976" h="54">
                <a:moveTo>
                  <a:pt x="0" y="0"/>
                </a:moveTo>
                <a:lnTo>
                  <a:pt x="9976" y="0"/>
                </a:lnTo>
                <a:lnTo>
                  <a:pt x="997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4047840" y="2552400"/>
            <a:ext cx="4324680" cy="19440"/>
          </a:xfrm>
          <a:custGeom>
            <a:avLst/>
            <a:gdLst/>
            <a:ahLst/>
            <a:rect l="0" t="0" r="r" b="b"/>
            <a:pathLst>
              <a:path w="12013" h="54">
                <a:moveTo>
                  <a:pt x="0" y="0"/>
                </a:moveTo>
                <a:lnTo>
                  <a:pt x="12013" y="0"/>
                </a:lnTo>
                <a:lnTo>
                  <a:pt x="1201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456840" y="290484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4047840" y="2904840"/>
            <a:ext cx="4324680" cy="10080"/>
          </a:xfrm>
          <a:custGeom>
            <a:avLst/>
            <a:gdLst/>
            <a:ahLst/>
            <a:rect l="0" t="0" r="r" b="b"/>
            <a:pathLst>
              <a:path w="12013" h="28">
                <a:moveTo>
                  <a:pt x="0" y="0"/>
                </a:moveTo>
                <a:lnTo>
                  <a:pt x="12013" y="0"/>
                </a:lnTo>
                <a:lnTo>
                  <a:pt x="120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456840" y="34574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4047840" y="3457440"/>
            <a:ext cx="4324680" cy="9720"/>
          </a:xfrm>
          <a:custGeom>
            <a:avLst/>
            <a:gdLst/>
            <a:ahLst/>
            <a:rect l="0" t="0" r="r" b="b"/>
            <a:pathLst>
              <a:path w="12013" h="27">
                <a:moveTo>
                  <a:pt x="0" y="0"/>
                </a:moveTo>
                <a:lnTo>
                  <a:pt x="12013" y="0"/>
                </a:lnTo>
                <a:lnTo>
                  <a:pt x="120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456840" y="400968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4047840" y="4009680"/>
            <a:ext cx="4324680" cy="10080"/>
          </a:xfrm>
          <a:custGeom>
            <a:avLst/>
            <a:gdLst/>
            <a:ahLst/>
            <a:rect l="0" t="0" r="r" b="b"/>
            <a:pathLst>
              <a:path w="12013" h="28">
                <a:moveTo>
                  <a:pt x="0" y="0"/>
                </a:moveTo>
                <a:lnTo>
                  <a:pt x="12013" y="0"/>
                </a:lnTo>
                <a:lnTo>
                  <a:pt x="120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634320" y="1747080"/>
            <a:ext cx="78598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Bouwen we met OKx niet een stoomtrein, terwijl de AI-ontwikkeling straks om vliegtuigen vraagt?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563760" y="2346120"/>
            <a:ext cx="2545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DE VRAAG KAN DRIE DINGEN BETEKENEN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4155120" y="2346120"/>
            <a:ext cx="13831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ANTWOORD STAAT OP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563760" y="2663640"/>
            <a:ext cx="24573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De gekozen techniek is achterhaald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4155120" y="2663640"/>
            <a:ext cx="29772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Slide 4: de techniek is de vervangbare laag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563760" y="3006360"/>
            <a:ext cx="3571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Het duurt te lang voordat er een gedragen afspraak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563760" y="3215880"/>
            <a:ext cx="217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ligt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4155120" y="3006360"/>
            <a:ext cx="2902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Slide 5: dit is een risico, nog niet gemeten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563760" y="3558960"/>
            <a:ext cx="3339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AI lost de koppelpunten tussen systemen zelf op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4155120" y="3558960"/>
            <a:ext cx="44431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Slide 4: de vraag wie waarvan bron is, is bestuurlijk en verdwijnt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4155120" y="3758760"/>
            <a:ext cx="262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niet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457200" y="4159080"/>
            <a:ext cx="6796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Alle drie worden beantwoord. De derde is de zwaarste en krijgt daarom de eerste helft van slide 4.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8" name=""/>
          <p:cNvSpPr/>
          <p:nvPr/>
        </p:nvSpPr>
        <p:spPr>
          <a:xfrm>
            <a:off x="456840" y="1304640"/>
            <a:ext cx="2638800" cy="305280"/>
          </a:xfrm>
          <a:custGeom>
            <a:avLst/>
            <a:gdLst/>
            <a:ahLst/>
            <a:rect l="0" t="0" r="r" b="b"/>
            <a:pathLst>
              <a:path w="7330" h="848">
                <a:moveTo>
                  <a:pt x="0" y="0"/>
                </a:moveTo>
                <a:lnTo>
                  <a:pt x="7330" y="0"/>
                </a:lnTo>
                <a:lnTo>
                  <a:pt x="7330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3095280" y="1304640"/>
            <a:ext cx="610200" cy="305280"/>
          </a:xfrm>
          <a:custGeom>
            <a:avLst/>
            <a:gdLst/>
            <a:ahLst/>
            <a:rect l="0" t="0" r="r" b="b"/>
            <a:pathLst>
              <a:path w="1695" h="848">
                <a:moveTo>
                  <a:pt x="0" y="0"/>
                </a:moveTo>
                <a:lnTo>
                  <a:pt x="1695" y="0"/>
                </a:lnTo>
                <a:lnTo>
                  <a:pt x="1695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3705120" y="1304640"/>
            <a:ext cx="4839120" cy="305280"/>
          </a:xfrm>
          <a:custGeom>
            <a:avLst/>
            <a:gdLst/>
            <a:ahLst/>
            <a:rect l="0" t="0" r="r" b="b"/>
            <a:pathLst>
              <a:path w="13442" h="848">
                <a:moveTo>
                  <a:pt x="0" y="0"/>
                </a:moveTo>
                <a:lnTo>
                  <a:pt x="13442" y="0"/>
                </a:lnTo>
                <a:lnTo>
                  <a:pt x="1344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456840" y="1599840"/>
            <a:ext cx="2638800" cy="19440"/>
          </a:xfrm>
          <a:custGeom>
            <a:avLst/>
            <a:gdLst/>
            <a:ahLst/>
            <a:rect l="0" t="0" r="r" b="b"/>
            <a:pathLst>
              <a:path w="7330" h="54">
                <a:moveTo>
                  <a:pt x="0" y="0"/>
                </a:moveTo>
                <a:lnTo>
                  <a:pt x="7330" y="0"/>
                </a:lnTo>
                <a:lnTo>
                  <a:pt x="733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3095280" y="1599840"/>
            <a:ext cx="610200" cy="19440"/>
          </a:xfrm>
          <a:custGeom>
            <a:avLst/>
            <a:gdLst/>
            <a:ahLst/>
            <a:rect l="0" t="0" r="r" b="b"/>
            <a:pathLst>
              <a:path w="1695" h="54">
                <a:moveTo>
                  <a:pt x="0" y="0"/>
                </a:moveTo>
                <a:lnTo>
                  <a:pt x="1695" y="0"/>
                </a:lnTo>
                <a:lnTo>
                  <a:pt x="169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3705120" y="1599840"/>
            <a:ext cx="4839120" cy="19440"/>
          </a:xfrm>
          <a:custGeom>
            <a:avLst/>
            <a:gdLst/>
            <a:ahLst/>
            <a:rect l="0" t="0" r="r" b="b"/>
            <a:pathLst>
              <a:path w="13442" h="54">
                <a:moveTo>
                  <a:pt x="0" y="0"/>
                </a:moveTo>
                <a:lnTo>
                  <a:pt x="13442" y="0"/>
                </a:lnTo>
                <a:lnTo>
                  <a:pt x="1344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456840" y="2143080"/>
            <a:ext cx="2638800" cy="9720"/>
          </a:xfrm>
          <a:custGeom>
            <a:avLst/>
            <a:gdLst/>
            <a:ahLst/>
            <a:rect l="0" t="0" r="r" b="b"/>
            <a:pathLst>
              <a:path w="7330" h="27">
                <a:moveTo>
                  <a:pt x="0" y="0"/>
                </a:moveTo>
                <a:lnTo>
                  <a:pt x="7330" y="0"/>
                </a:lnTo>
                <a:lnTo>
                  <a:pt x="73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3095280" y="2143080"/>
            <a:ext cx="610200" cy="9720"/>
          </a:xfrm>
          <a:custGeom>
            <a:avLst/>
            <a:gdLst/>
            <a:ahLst/>
            <a:rect l="0" t="0" r="r" b="b"/>
            <a:pathLst>
              <a:path w="1695" h="27">
                <a:moveTo>
                  <a:pt x="0" y="0"/>
                </a:moveTo>
                <a:lnTo>
                  <a:pt x="1695" y="0"/>
                </a:lnTo>
                <a:lnTo>
                  <a:pt x="1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3705120" y="2143080"/>
            <a:ext cx="4839120" cy="9720"/>
          </a:xfrm>
          <a:custGeom>
            <a:avLst/>
            <a:gdLst/>
            <a:ahLst/>
            <a:rect l="0" t="0" r="r" b="b"/>
            <a:pathLst>
              <a:path w="13442" h="27">
                <a:moveTo>
                  <a:pt x="0" y="0"/>
                </a:moveTo>
                <a:lnTo>
                  <a:pt x="13442" y="0"/>
                </a:lnTo>
                <a:lnTo>
                  <a:pt x="1344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456840" y="2666880"/>
            <a:ext cx="2638800" cy="9720"/>
          </a:xfrm>
          <a:custGeom>
            <a:avLst/>
            <a:gdLst/>
            <a:ahLst/>
            <a:rect l="0" t="0" r="r" b="b"/>
            <a:pathLst>
              <a:path w="7330" h="27">
                <a:moveTo>
                  <a:pt x="0" y="0"/>
                </a:moveTo>
                <a:lnTo>
                  <a:pt x="7330" y="0"/>
                </a:lnTo>
                <a:lnTo>
                  <a:pt x="73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095280" y="2666880"/>
            <a:ext cx="610200" cy="9720"/>
          </a:xfrm>
          <a:custGeom>
            <a:avLst/>
            <a:gdLst/>
            <a:ahLst/>
            <a:rect l="0" t="0" r="r" b="b"/>
            <a:pathLst>
              <a:path w="1695" h="27">
                <a:moveTo>
                  <a:pt x="0" y="0"/>
                </a:moveTo>
                <a:lnTo>
                  <a:pt x="1695" y="0"/>
                </a:lnTo>
                <a:lnTo>
                  <a:pt x="1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3705120" y="2666880"/>
            <a:ext cx="4839120" cy="9720"/>
          </a:xfrm>
          <a:custGeom>
            <a:avLst/>
            <a:gdLst/>
            <a:ahLst/>
            <a:rect l="0" t="0" r="r" b="b"/>
            <a:pathLst>
              <a:path w="13442" h="27">
                <a:moveTo>
                  <a:pt x="0" y="0"/>
                </a:moveTo>
                <a:lnTo>
                  <a:pt x="13442" y="0"/>
                </a:lnTo>
                <a:lnTo>
                  <a:pt x="1344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456840" y="3190680"/>
            <a:ext cx="2638800" cy="9720"/>
          </a:xfrm>
          <a:custGeom>
            <a:avLst/>
            <a:gdLst/>
            <a:ahLst/>
            <a:rect l="0" t="0" r="r" b="b"/>
            <a:pathLst>
              <a:path w="7330" h="27">
                <a:moveTo>
                  <a:pt x="0" y="0"/>
                </a:moveTo>
                <a:lnTo>
                  <a:pt x="7330" y="0"/>
                </a:lnTo>
                <a:lnTo>
                  <a:pt x="73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3095280" y="3190680"/>
            <a:ext cx="610200" cy="9720"/>
          </a:xfrm>
          <a:custGeom>
            <a:avLst/>
            <a:gdLst/>
            <a:ahLst/>
            <a:rect l="0" t="0" r="r" b="b"/>
            <a:pathLst>
              <a:path w="1695" h="27">
                <a:moveTo>
                  <a:pt x="0" y="0"/>
                </a:moveTo>
                <a:lnTo>
                  <a:pt x="1695" y="0"/>
                </a:lnTo>
                <a:lnTo>
                  <a:pt x="1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3705120" y="3190680"/>
            <a:ext cx="4839120" cy="9720"/>
          </a:xfrm>
          <a:custGeom>
            <a:avLst/>
            <a:gdLst/>
            <a:ahLst/>
            <a:rect l="0" t="0" r="r" b="b"/>
            <a:pathLst>
              <a:path w="13442" h="27">
                <a:moveTo>
                  <a:pt x="0" y="0"/>
                </a:moveTo>
                <a:lnTo>
                  <a:pt x="13442" y="0"/>
                </a:lnTo>
                <a:lnTo>
                  <a:pt x="1344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456840" y="3714480"/>
            <a:ext cx="2638800" cy="10080"/>
          </a:xfrm>
          <a:custGeom>
            <a:avLst/>
            <a:gdLst/>
            <a:ahLst/>
            <a:rect l="0" t="0" r="r" b="b"/>
            <a:pathLst>
              <a:path w="7330" h="28">
                <a:moveTo>
                  <a:pt x="0" y="0"/>
                </a:moveTo>
                <a:lnTo>
                  <a:pt x="7330" y="0"/>
                </a:lnTo>
                <a:lnTo>
                  <a:pt x="733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3095280" y="3714480"/>
            <a:ext cx="610200" cy="10080"/>
          </a:xfrm>
          <a:custGeom>
            <a:avLst/>
            <a:gdLst/>
            <a:ahLst/>
            <a:rect l="0" t="0" r="r" b="b"/>
            <a:pathLst>
              <a:path w="1695" h="28">
                <a:moveTo>
                  <a:pt x="0" y="0"/>
                </a:moveTo>
                <a:lnTo>
                  <a:pt x="1695" y="0"/>
                </a:lnTo>
                <a:lnTo>
                  <a:pt x="1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3705120" y="3714480"/>
            <a:ext cx="4839120" cy="10080"/>
          </a:xfrm>
          <a:custGeom>
            <a:avLst/>
            <a:gdLst/>
            <a:ahLst/>
            <a:rect l="0" t="0" r="r" b="b"/>
            <a:pathLst>
              <a:path w="13442" h="28">
                <a:moveTo>
                  <a:pt x="0" y="0"/>
                </a:moveTo>
                <a:lnTo>
                  <a:pt x="13442" y="0"/>
                </a:lnTo>
                <a:lnTo>
                  <a:pt x="1344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456840" y="4047840"/>
            <a:ext cx="2638800" cy="10440"/>
          </a:xfrm>
          <a:custGeom>
            <a:avLst/>
            <a:gdLst/>
            <a:ahLst/>
            <a:rect l="0" t="0" r="r" b="b"/>
            <a:pathLst>
              <a:path w="7330" h="29">
                <a:moveTo>
                  <a:pt x="0" y="0"/>
                </a:moveTo>
                <a:lnTo>
                  <a:pt x="7330" y="0"/>
                </a:lnTo>
                <a:lnTo>
                  <a:pt x="7330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095280" y="4047840"/>
            <a:ext cx="610200" cy="10440"/>
          </a:xfrm>
          <a:custGeom>
            <a:avLst/>
            <a:gdLst/>
            <a:ahLst/>
            <a:rect l="0" t="0" r="r" b="b"/>
            <a:pathLst>
              <a:path w="1695" h="29">
                <a:moveTo>
                  <a:pt x="0" y="0"/>
                </a:moveTo>
                <a:lnTo>
                  <a:pt x="1695" y="0"/>
                </a:lnTo>
                <a:lnTo>
                  <a:pt x="1695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3705120" y="4047840"/>
            <a:ext cx="4839120" cy="10440"/>
          </a:xfrm>
          <a:custGeom>
            <a:avLst/>
            <a:gdLst/>
            <a:ahLst/>
            <a:rect l="0" t="0" r="r" b="b"/>
            <a:pathLst>
              <a:path w="13442" h="29">
                <a:moveTo>
                  <a:pt x="0" y="0"/>
                </a:moveTo>
                <a:lnTo>
                  <a:pt x="13442" y="0"/>
                </a:lnTo>
                <a:lnTo>
                  <a:pt x="13442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439920" y="691560"/>
            <a:ext cx="55526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standhoudt, en wat niet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563760" y="1393560"/>
            <a:ext cx="745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ONDERDEEL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3200400" y="1393560"/>
            <a:ext cx="3862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BLIJFT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3814920" y="1393560"/>
            <a:ext cx="5781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WAAROM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563760" y="1704240"/>
            <a:ext cx="17532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Wat begrippen betekenen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3200400" y="1704240"/>
            <a:ext cx="133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Ja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3814920" y="1704240"/>
            <a:ext cx="50634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Een model kan een voorstel doen; de sector moet het vaststellen. Dat blijft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3814920" y="1904400"/>
            <a:ext cx="1489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een bestuurlijk besluit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563760" y="2228040"/>
            <a:ext cx="27043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Welk systeem bron is van welk gegeven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3200400" y="2228040"/>
            <a:ext cx="133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Ja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3814920" y="2228040"/>
            <a:ext cx="4662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Een onderwijsverbintenis en een waardedocument zijn administratief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3814920" y="2428200"/>
            <a:ext cx="3591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bindend. Daar hoort vastlegging bij, geen inschatting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563760" y="2761560"/>
            <a:ext cx="2612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inhoud van een bericht, los van het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563760" y="2952000"/>
            <a:ext cx="17272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kanaal waarover het gaat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3200400" y="2761560"/>
            <a:ext cx="133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Ja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3814920" y="2761560"/>
            <a:ext cx="4589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Vastgelegd als uitgangspunt. Een ander kanaal raakt de inhoud niet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563760" y="3285360"/>
            <a:ext cx="26845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keuze voor OEAPI en voor OAuth 2.0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3200400" y="3285360"/>
            <a:ext cx="266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Nee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3814920" y="3285360"/>
            <a:ext cx="5160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Dit zijn expliciete keuzes met een tenzij-clausule. Ze zijn vervangbaar; dat is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3814920" y="3476160"/>
            <a:ext cx="12657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bewust zo opgezet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563760" y="3809520"/>
            <a:ext cx="20718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Het detailniveau per koppeling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3200400" y="3809520"/>
            <a:ext cx="266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Nee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3814920" y="3809520"/>
            <a:ext cx="4185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Groeit mee met wat leveranciers nodig hebben om te bouwen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457200" y="4183560"/>
            <a:ext cx="85791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Alle genoemde afspraken hebben op dit moment de status voorstel. Ze zijn vastgelegd in de principes en uitgangspunten, en nog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457200" y="4383720"/>
            <a:ext cx="1669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niet formeel bekrachtigd.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2" name=""/>
          <p:cNvSpPr/>
          <p:nvPr/>
        </p:nvSpPr>
        <p:spPr>
          <a:xfrm>
            <a:off x="456840" y="1314360"/>
            <a:ext cx="1686600" cy="466920"/>
          </a:xfrm>
          <a:custGeom>
            <a:avLst/>
            <a:gdLst/>
            <a:ahLst/>
            <a:rect l="0" t="0" r="r" b="b"/>
            <a:pathLst>
              <a:path w="4685" h="1297">
                <a:moveTo>
                  <a:pt x="0" y="0"/>
                </a:moveTo>
                <a:lnTo>
                  <a:pt x="4685" y="0"/>
                </a:lnTo>
                <a:lnTo>
                  <a:pt x="4685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2143080" y="1314360"/>
            <a:ext cx="5353200" cy="466920"/>
          </a:xfrm>
          <a:custGeom>
            <a:avLst/>
            <a:gdLst/>
            <a:ahLst/>
            <a:rect l="0" t="0" r="r" b="b"/>
            <a:pathLst>
              <a:path w="14870" h="1297">
                <a:moveTo>
                  <a:pt x="0" y="0"/>
                </a:moveTo>
                <a:lnTo>
                  <a:pt x="14870" y="0"/>
                </a:lnTo>
                <a:lnTo>
                  <a:pt x="14870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7495920" y="1314360"/>
            <a:ext cx="1048320" cy="466920"/>
          </a:xfrm>
          <a:custGeom>
            <a:avLst/>
            <a:gdLst/>
            <a:ahLst/>
            <a:rect l="0" t="0" r="r" b="b"/>
            <a:pathLst>
              <a:path w="2912" h="1297">
                <a:moveTo>
                  <a:pt x="0" y="0"/>
                </a:moveTo>
                <a:lnTo>
                  <a:pt x="2912" y="0"/>
                </a:lnTo>
                <a:lnTo>
                  <a:pt x="2912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456840" y="1771560"/>
            <a:ext cx="1686600" cy="19440"/>
          </a:xfrm>
          <a:custGeom>
            <a:avLst/>
            <a:gdLst/>
            <a:ahLst/>
            <a:rect l="0" t="0" r="r" b="b"/>
            <a:pathLst>
              <a:path w="4685" h="54">
                <a:moveTo>
                  <a:pt x="0" y="0"/>
                </a:moveTo>
                <a:lnTo>
                  <a:pt x="4685" y="0"/>
                </a:lnTo>
                <a:lnTo>
                  <a:pt x="468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2143080" y="1771560"/>
            <a:ext cx="5353200" cy="19440"/>
          </a:xfrm>
          <a:custGeom>
            <a:avLst/>
            <a:gdLst/>
            <a:ahLst/>
            <a:rect l="0" t="0" r="r" b="b"/>
            <a:pathLst>
              <a:path w="14870" h="54">
                <a:moveTo>
                  <a:pt x="0" y="0"/>
                </a:moveTo>
                <a:lnTo>
                  <a:pt x="14870" y="0"/>
                </a:lnTo>
                <a:lnTo>
                  <a:pt x="1487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7495920" y="1771560"/>
            <a:ext cx="1048320" cy="19440"/>
          </a:xfrm>
          <a:custGeom>
            <a:avLst/>
            <a:gdLst/>
            <a:ahLst/>
            <a:rect l="0" t="0" r="r" b="b"/>
            <a:pathLst>
              <a:path w="2912" h="54">
                <a:moveTo>
                  <a:pt x="0" y="0"/>
                </a:moveTo>
                <a:lnTo>
                  <a:pt x="2912" y="0"/>
                </a:lnTo>
                <a:lnTo>
                  <a:pt x="291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456840" y="2485800"/>
            <a:ext cx="1686600" cy="10080"/>
          </a:xfrm>
          <a:custGeom>
            <a:avLst/>
            <a:gdLst/>
            <a:ahLst/>
            <a:rect l="0" t="0" r="r" b="b"/>
            <a:pathLst>
              <a:path w="4685" h="28">
                <a:moveTo>
                  <a:pt x="0" y="0"/>
                </a:moveTo>
                <a:lnTo>
                  <a:pt x="4685" y="0"/>
                </a:lnTo>
                <a:lnTo>
                  <a:pt x="468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2143080" y="2485800"/>
            <a:ext cx="5353200" cy="10080"/>
          </a:xfrm>
          <a:custGeom>
            <a:avLst/>
            <a:gdLst/>
            <a:ahLst/>
            <a:rect l="0" t="0" r="r" b="b"/>
            <a:pathLst>
              <a:path w="14870" h="28">
                <a:moveTo>
                  <a:pt x="0" y="0"/>
                </a:moveTo>
                <a:lnTo>
                  <a:pt x="14870" y="0"/>
                </a:lnTo>
                <a:lnTo>
                  <a:pt x="1487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7495920" y="2485800"/>
            <a:ext cx="1048320" cy="10080"/>
          </a:xfrm>
          <a:custGeom>
            <a:avLst/>
            <a:gdLst/>
            <a:ahLst/>
            <a:rect l="0" t="0" r="r" b="b"/>
            <a:pathLst>
              <a:path w="2912" h="28">
                <a:moveTo>
                  <a:pt x="0" y="0"/>
                </a:moveTo>
                <a:lnTo>
                  <a:pt x="2912" y="0"/>
                </a:lnTo>
                <a:lnTo>
                  <a:pt x="291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456840" y="3009600"/>
            <a:ext cx="1686600" cy="10080"/>
          </a:xfrm>
          <a:custGeom>
            <a:avLst/>
            <a:gdLst/>
            <a:ahLst/>
            <a:rect l="0" t="0" r="r" b="b"/>
            <a:pathLst>
              <a:path w="4685" h="28">
                <a:moveTo>
                  <a:pt x="0" y="0"/>
                </a:moveTo>
                <a:lnTo>
                  <a:pt x="4685" y="0"/>
                </a:lnTo>
                <a:lnTo>
                  <a:pt x="468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2143080" y="3009600"/>
            <a:ext cx="5353200" cy="10080"/>
          </a:xfrm>
          <a:custGeom>
            <a:avLst/>
            <a:gdLst/>
            <a:ahLst/>
            <a:rect l="0" t="0" r="r" b="b"/>
            <a:pathLst>
              <a:path w="14870" h="28">
                <a:moveTo>
                  <a:pt x="0" y="0"/>
                </a:moveTo>
                <a:lnTo>
                  <a:pt x="14870" y="0"/>
                </a:lnTo>
                <a:lnTo>
                  <a:pt x="1487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7495920" y="3009600"/>
            <a:ext cx="1048320" cy="10080"/>
          </a:xfrm>
          <a:custGeom>
            <a:avLst/>
            <a:gdLst/>
            <a:ahLst/>
            <a:rect l="0" t="0" r="r" b="b"/>
            <a:pathLst>
              <a:path w="2912" h="28">
                <a:moveTo>
                  <a:pt x="0" y="0"/>
                </a:moveTo>
                <a:lnTo>
                  <a:pt x="2912" y="0"/>
                </a:lnTo>
                <a:lnTo>
                  <a:pt x="291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456840" y="3524040"/>
            <a:ext cx="1686600" cy="10080"/>
          </a:xfrm>
          <a:custGeom>
            <a:avLst/>
            <a:gdLst/>
            <a:ahLst/>
            <a:rect l="0" t="0" r="r" b="b"/>
            <a:pathLst>
              <a:path w="4685" h="28">
                <a:moveTo>
                  <a:pt x="0" y="0"/>
                </a:moveTo>
                <a:lnTo>
                  <a:pt x="4685" y="0"/>
                </a:lnTo>
                <a:lnTo>
                  <a:pt x="468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2143080" y="3524040"/>
            <a:ext cx="5353200" cy="10080"/>
          </a:xfrm>
          <a:custGeom>
            <a:avLst/>
            <a:gdLst/>
            <a:ahLst/>
            <a:rect l="0" t="0" r="r" b="b"/>
            <a:pathLst>
              <a:path w="14870" h="28">
                <a:moveTo>
                  <a:pt x="0" y="0"/>
                </a:moveTo>
                <a:lnTo>
                  <a:pt x="14870" y="0"/>
                </a:lnTo>
                <a:lnTo>
                  <a:pt x="1487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7495920" y="3524040"/>
            <a:ext cx="1048320" cy="10080"/>
          </a:xfrm>
          <a:custGeom>
            <a:avLst/>
            <a:gdLst/>
            <a:ahLst/>
            <a:rect l="0" t="0" r="r" b="b"/>
            <a:pathLst>
              <a:path w="2912" h="28">
                <a:moveTo>
                  <a:pt x="0" y="0"/>
                </a:moveTo>
                <a:lnTo>
                  <a:pt x="2912" y="0"/>
                </a:lnTo>
                <a:lnTo>
                  <a:pt x="291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456840" y="4038480"/>
            <a:ext cx="1686600" cy="9720"/>
          </a:xfrm>
          <a:custGeom>
            <a:avLst/>
            <a:gdLst/>
            <a:ahLst/>
            <a:rect l="0" t="0" r="r" b="b"/>
            <a:pathLst>
              <a:path w="4685" h="27">
                <a:moveTo>
                  <a:pt x="0" y="0"/>
                </a:moveTo>
                <a:lnTo>
                  <a:pt x="4685" y="0"/>
                </a:lnTo>
                <a:lnTo>
                  <a:pt x="468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2143080" y="4038480"/>
            <a:ext cx="5353200" cy="9720"/>
          </a:xfrm>
          <a:custGeom>
            <a:avLst/>
            <a:gdLst/>
            <a:ahLst/>
            <a:rect l="0" t="0" r="r" b="b"/>
            <a:pathLst>
              <a:path w="14870" h="27">
                <a:moveTo>
                  <a:pt x="0" y="0"/>
                </a:moveTo>
                <a:lnTo>
                  <a:pt x="14870" y="0"/>
                </a:lnTo>
                <a:lnTo>
                  <a:pt x="1487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7495920" y="4038480"/>
            <a:ext cx="1048320" cy="9720"/>
          </a:xfrm>
          <a:custGeom>
            <a:avLst/>
            <a:gdLst/>
            <a:ahLst/>
            <a:rect l="0" t="0" r="r" b="b"/>
            <a:pathLst>
              <a:path w="2912" h="27">
                <a:moveTo>
                  <a:pt x="0" y="0"/>
                </a:moveTo>
                <a:lnTo>
                  <a:pt x="2912" y="0"/>
                </a:lnTo>
                <a:lnTo>
                  <a:pt x="291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439920" y="700920"/>
            <a:ext cx="6435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Vier gaten die de vraag blootlegt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563760" y="1479240"/>
            <a:ext cx="250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GAT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2245680" y="1479240"/>
            <a:ext cx="11772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STAND VAN ZAKEN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7598160" y="1393560"/>
            <a:ext cx="526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DOOR AI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7598160" y="1555560"/>
            <a:ext cx="662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URGENTER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563760" y="1878480"/>
            <a:ext cx="13190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Doorlooptijd tot een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563760" y="2069280"/>
            <a:ext cx="12427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gedragen afspraak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2245680" y="1878480"/>
            <a:ext cx="55177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Binnen het project gaat het snel: mediaan 9 dagen per issue, twee releases in twee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2245680" y="2069280"/>
            <a:ext cx="57034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weken. Wat niet gemeten is, is de tijd tot een afspraak die de sector draagt. De eerste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2245680" y="2259720"/>
            <a:ext cx="23097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echte toets is de review van v0.1.0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7598160" y="1878480"/>
            <a:ext cx="259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Nee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563760" y="2583360"/>
            <a:ext cx="1321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Machineleesbaar op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563760" y="2773800"/>
            <a:ext cx="10720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interactieniveau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2245680" y="2583360"/>
            <a:ext cx="5109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24 datamodelschema’s zijn machineleesbaar en worden meegeleverd.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2245680" y="2773800"/>
            <a:ext cx="31525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interactiepatronen en de endpoints zijn dat niet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7598160" y="2583360"/>
            <a:ext cx="1378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Ja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563760" y="3097800"/>
            <a:ext cx="12733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Binding naar OEAPI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2245680" y="3097800"/>
            <a:ext cx="57247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payloads zijn Nederlandstalig en wijken bewust af van de OEAPI-sleutelnamen. Ook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2245680" y="3288240"/>
            <a:ext cx="40773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het aﬂeveringsmechanisme tussen partijen is nog niet belegd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7598160" y="3097800"/>
            <a:ext cx="259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Nee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563760" y="3621600"/>
            <a:ext cx="14302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Beheerpartij na Npuls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2245680" y="3621600"/>
            <a:ext cx="56944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route ligt vast: standaardiseren via AMIGO, richting Edustandaard. Welke partij het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2245680" y="3812040"/>
            <a:ext cx="16495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overneemt is niet belegd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7598160" y="3621600"/>
            <a:ext cx="259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Nee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457200" y="4174200"/>
            <a:ext cx="8643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Alleen het tweede gat wordt door de AI-ontwikkeling groter: wie met een agent wil bouwen, kan de payloads gebruiken maar moet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457200" y="4374000"/>
            <a:ext cx="24285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de interactie nog zelf uit tekst halen.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2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24" name=""/>
          <p:cNvSpPr/>
          <p:nvPr/>
        </p:nvSpPr>
        <p:spPr>
          <a:xfrm>
            <a:off x="456840" y="1361880"/>
            <a:ext cx="38520" cy="2057760"/>
          </a:xfrm>
          <a:custGeom>
            <a:avLst/>
            <a:gdLst/>
            <a:ahLst/>
            <a:rect l="0" t="0" r="r" b="b"/>
            <a:pathLst>
              <a:path w="107" h="5716">
                <a:moveTo>
                  <a:pt x="0" y="0"/>
                </a:moveTo>
                <a:lnTo>
                  <a:pt x="107" y="0"/>
                </a:lnTo>
                <a:lnTo>
                  <a:pt x="107" y="5716"/>
                </a:lnTo>
                <a:lnTo>
                  <a:pt x="0" y="5716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439920" y="729360"/>
            <a:ext cx="94341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instellingen en leveranciers hiervan merken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632520" y="1558800"/>
            <a:ext cx="916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0b4f6c"/>
                </a:solidFill>
                <a:latin typeface="Arial"/>
                <a:ea typeface="Arial"/>
              </a:rPr>
              <a:t>Instellingen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632520" y="1939680"/>
            <a:ext cx="40014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student kan alleen over systemen heen kiezen als die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632520" y="2168280"/>
            <a:ext cx="40712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systemen het eens zijn over wat een leeruitkomst is. Dat is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632520" y="2396880"/>
            <a:ext cx="39114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wat OKx vastlegt. Sluit gat 2 en 3, dan kan een instelling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632520" y="2625480"/>
            <a:ext cx="40212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straks controleren of haar leveranciers zich eraan houden,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4524120" y="1361880"/>
            <a:ext cx="38520" cy="2057760"/>
          </a:xfrm>
          <a:custGeom>
            <a:avLst/>
            <a:gdLst/>
            <a:ahLst/>
            <a:rect l="0" t="0" r="r" b="b"/>
            <a:pathLst>
              <a:path w="107" h="5716">
                <a:moveTo>
                  <a:pt x="0" y="0"/>
                </a:moveTo>
                <a:lnTo>
                  <a:pt x="107" y="0"/>
                </a:lnTo>
                <a:lnTo>
                  <a:pt x="107" y="5716"/>
                </a:lnTo>
                <a:lnTo>
                  <a:pt x="0" y="5716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632520" y="2854080"/>
            <a:ext cx="25351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in plaats van het te moeten geloven.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4704120" y="1558800"/>
            <a:ext cx="9914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a8481f"/>
                </a:solidFill>
                <a:latin typeface="Arial"/>
                <a:ea typeface="Arial"/>
              </a:rPr>
              <a:t>Leveranciers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4704120" y="1939680"/>
            <a:ext cx="27590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Zij bouwen tegen het koppelvlak van de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4704120" y="2168280"/>
            <a:ext cx="4130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onderwijscatalogus, met drie koppelingen: naar planning 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4704120" y="2396880"/>
            <a:ext cx="4060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roostering, naar het studentinformatiesysteem en naar het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4704120" y="2625480"/>
            <a:ext cx="3871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leermanagementsysteem. Zolang gat 2 openstaat, leest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4704120" y="2854080"/>
            <a:ext cx="360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leverancier de interactie uit tekst en kan hij niet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456840" y="3552480"/>
            <a:ext cx="7915680" cy="972000"/>
          </a:xfrm>
          <a:custGeom>
            <a:avLst/>
            <a:gdLst/>
            <a:ahLst/>
            <a:rect l="0" t="0" r="r" b="b"/>
            <a:pathLst>
              <a:path w="21988" h="2700">
                <a:moveTo>
                  <a:pt x="0" y="0"/>
                </a:moveTo>
                <a:lnTo>
                  <a:pt x="21988" y="0"/>
                </a:lnTo>
                <a:lnTo>
                  <a:pt x="21988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456840" y="355248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456840" y="4514760"/>
            <a:ext cx="7915680" cy="9720"/>
          </a:xfrm>
          <a:custGeom>
            <a:avLst/>
            <a:gdLst/>
            <a:ahLst/>
            <a:rect l="0" t="0" r="r" b="b"/>
            <a:pathLst>
              <a:path w="21988" h="27">
                <a:moveTo>
                  <a:pt x="0" y="0"/>
                </a:moveTo>
                <a:lnTo>
                  <a:pt x="21988" y="0"/>
                </a:lnTo>
                <a:lnTo>
                  <a:pt x="219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8362800" y="3552480"/>
            <a:ext cx="9720" cy="972000"/>
          </a:xfrm>
          <a:custGeom>
            <a:avLst/>
            <a:gdLst/>
            <a:ahLst/>
            <a:rect l="0" t="0" r="r" b="b"/>
            <a:pathLst>
              <a:path w="27" h="2700">
                <a:moveTo>
                  <a:pt x="0" y="106"/>
                </a:moveTo>
                <a:lnTo>
                  <a:pt x="0" y="2700"/>
                </a:lnTo>
                <a:lnTo>
                  <a:pt x="27" y="2700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456840" y="3552480"/>
            <a:ext cx="10080" cy="972000"/>
          </a:xfrm>
          <a:custGeom>
            <a:avLst/>
            <a:gdLst/>
            <a:ahLst/>
            <a:rect l="0" t="0" r="r" b="b"/>
            <a:pathLst>
              <a:path w="28" h="2700">
                <a:moveTo>
                  <a:pt x="0" y="0"/>
                </a:moveTo>
                <a:lnTo>
                  <a:pt x="0" y="2700"/>
                </a:lnTo>
                <a:lnTo>
                  <a:pt x="28" y="270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4704120" y="3082680"/>
            <a:ext cx="15782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automatisch valideren.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634320" y="3768480"/>
            <a:ext cx="82530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d4a017"/>
                </a:solidFill>
                <a:latin typeface="Arial"/>
                <a:ea typeface="Arial"/>
              </a:rPr>
              <a:t>Wat geen enkele optie verandert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: het detailniveau dat leveranciers toegezegd hebben gekregen voor v0.1.0. Wordt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634320" y="3978000"/>
            <a:ext cx="84834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daaraan getornd, dan is dat een apart gesprek met elke leverancier, gevoerd door de projectleiding, en geen bijvangst van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634320" y="4178160"/>
            <a:ext cx="7261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dit besluit.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56" name=""/>
          <p:cNvSpPr/>
          <p:nvPr/>
        </p:nvSpPr>
        <p:spPr>
          <a:xfrm>
            <a:off x="456840" y="1457280"/>
            <a:ext cx="1533960" cy="457560"/>
          </a:xfrm>
          <a:custGeom>
            <a:avLst/>
            <a:gdLst/>
            <a:ahLst/>
            <a:rect l="0" t="0" r="r" b="b"/>
            <a:pathLst>
              <a:path w="4261" h="1271">
                <a:moveTo>
                  <a:pt x="0" y="0"/>
                </a:moveTo>
                <a:lnTo>
                  <a:pt x="4261" y="0"/>
                </a:lnTo>
                <a:lnTo>
                  <a:pt x="4261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1990440" y="1457280"/>
            <a:ext cx="3601080" cy="457560"/>
          </a:xfrm>
          <a:custGeom>
            <a:avLst/>
            <a:gdLst/>
            <a:ahLst/>
            <a:rect l="0" t="0" r="r" b="b"/>
            <a:pathLst>
              <a:path w="10003" h="1271">
                <a:moveTo>
                  <a:pt x="0" y="0"/>
                </a:moveTo>
                <a:lnTo>
                  <a:pt x="10003" y="0"/>
                </a:lnTo>
                <a:lnTo>
                  <a:pt x="10003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5591160" y="1457280"/>
            <a:ext cx="2324160" cy="457560"/>
          </a:xfrm>
          <a:custGeom>
            <a:avLst/>
            <a:gdLst/>
            <a:ahLst/>
            <a:rect l="0" t="0" r="r" b="b"/>
            <a:pathLst>
              <a:path w="6456" h="1271">
                <a:moveTo>
                  <a:pt x="0" y="0"/>
                </a:moveTo>
                <a:lnTo>
                  <a:pt x="6456" y="0"/>
                </a:lnTo>
                <a:lnTo>
                  <a:pt x="6456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7914960" y="1457280"/>
            <a:ext cx="790920" cy="457560"/>
          </a:xfrm>
          <a:custGeom>
            <a:avLst/>
            <a:gdLst/>
            <a:ahLst/>
            <a:rect l="0" t="0" r="r" b="b"/>
            <a:pathLst>
              <a:path w="2197" h="1271">
                <a:moveTo>
                  <a:pt x="0" y="0"/>
                </a:moveTo>
                <a:lnTo>
                  <a:pt x="2197" y="0"/>
                </a:lnTo>
                <a:lnTo>
                  <a:pt x="219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456840" y="1904760"/>
            <a:ext cx="1533960" cy="19440"/>
          </a:xfrm>
          <a:custGeom>
            <a:avLst/>
            <a:gdLst/>
            <a:ahLst/>
            <a:rect l="0" t="0" r="r" b="b"/>
            <a:pathLst>
              <a:path w="4261" h="54">
                <a:moveTo>
                  <a:pt x="0" y="0"/>
                </a:moveTo>
                <a:lnTo>
                  <a:pt x="4261" y="0"/>
                </a:lnTo>
                <a:lnTo>
                  <a:pt x="426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1990440" y="1904760"/>
            <a:ext cx="3601080" cy="19440"/>
          </a:xfrm>
          <a:custGeom>
            <a:avLst/>
            <a:gdLst/>
            <a:ahLst/>
            <a:rect l="0" t="0" r="r" b="b"/>
            <a:pathLst>
              <a:path w="10003" h="54">
                <a:moveTo>
                  <a:pt x="0" y="0"/>
                </a:moveTo>
                <a:lnTo>
                  <a:pt x="10003" y="0"/>
                </a:lnTo>
                <a:lnTo>
                  <a:pt x="1000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5591160" y="1904760"/>
            <a:ext cx="2324160" cy="19440"/>
          </a:xfrm>
          <a:custGeom>
            <a:avLst/>
            <a:gdLst/>
            <a:ahLst/>
            <a:rect l="0" t="0" r="r" b="b"/>
            <a:pathLst>
              <a:path w="6456" h="54">
                <a:moveTo>
                  <a:pt x="0" y="0"/>
                </a:moveTo>
                <a:lnTo>
                  <a:pt x="6456" y="0"/>
                </a:lnTo>
                <a:lnTo>
                  <a:pt x="645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7914960" y="1904760"/>
            <a:ext cx="790920" cy="19440"/>
          </a:xfrm>
          <a:custGeom>
            <a:avLst/>
            <a:gdLst/>
            <a:ahLst/>
            <a:rect l="0" t="0" r="r" b="b"/>
            <a:pathLst>
              <a:path w="2197" h="54">
                <a:moveTo>
                  <a:pt x="0" y="0"/>
                </a:moveTo>
                <a:lnTo>
                  <a:pt x="2197" y="0"/>
                </a:lnTo>
                <a:lnTo>
                  <a:pt x="219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456840" y="2409480"/>
            <a:ext cx="1533960" cy="10080"/>
          </a:xfrm>
          <a:custGeom>
            <a:avLst/>
            <a:gdLst/>
            <a:ahLst/>
            <a:rect l="0" t="0" r="r" b="b"/>
            <a:pathLst>
              <a:path w="4261" h="28">
                <a:moveTo>
                  <a:pt x="0" y="0"/>
                </a:moveTo>
                <a:lnTo>
                  <a:pt x="4261" y="0"/>
                </a:lnTo>
                <a:lnTo>
                  <a:pt x="426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1990440" y="2409480"/>
            <a:ext cx="3601080" cy="10080"/>
          </a:xfrm>
          <a:custGeom>
            <a:avLst/>
            <a:gdLst/>
            <a:ahLst/>
            <a:rect l="0" t="0" r="r" b="b"/>
            <a:pathLst>
              <a:path w="10003" h="28">
                <a:moveTo>
                  <a:pt x="0" y="0"/>
                </a:moveTo>
                <a:lnTo>
                  <a:pt x="10003" y="0"/>
                </a:lnTo>
                <a:lnTo>
                  <a:pt x="1000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5591160" y="2409480"/>
            <a:ext cx="2324160" cy="10080"/>
          </a:xfrm>
          <a:custGeom>
            <a:avLst/>
            <a:gdLst/>
            <a:ahLst/>
            <a:rect l="0" t="0" r="r" b="b"/>
            <a:pathLst>
              <a:path w="6456" h="28">
                <a:moveTo>
                  <a:pt x="0" y="0"/>
                </a:moveTo>
                <a:lnTo>
                  <a:pt x="6456" y="0"/>
                </a:lnTo>
                <a:lnTo>
                  <a:pt x="645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7914960" y="2409480"/>
            <a:ext cx="790920" cy="10080"/>
          </a:xfrm>
          <a:custGeom>
            <a:avLst/>
            <a:gdLst/>
            <a:ahLst/>
            <a:rect l="0" t="0" r="r" b="b"/>
            <a:pathLst>
              <a:path w="2197" h="28">
                <a:moveTo>
                  <a:pt x="0" y="0"/>
                </a:moveTo>
                <a:lnTo>
                  <a:pt x="2197" y="0"/>
                </a:lnTo>
                <a:lnTo>
                  <a:pt x="21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456840" y="2904840"/>
            <a:ext cx="1533960" cy="10080"/>
          </a:xfrm>
          <a:custGeom>
            <a:avLst/>
            <a:gdLst/>
            <a:ahLst/>
            <a:rect l="0" t="0" r="r" b="b"/>
            <a:pathLst>
              <a:path w="4261" h="28">
                <a:moveTo>
                  <a:pt x="0" y="0"/>
                </a:moveTo>
                <a:lnTo>
                  <a:pt x="4261" y="0"/>
                </a:lnTo>
                <a:lnTo>
                  <a:pt x="426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1990440" y="2904840"/>
            <a:ext cx="3601080" cy="10080"/>
          </a:xfrm>
          <a:custGeom>
            <a:avLst/>
            <a:gdLst/>
            <a:ahLst/>
            <a:rect l="0" t="0" r="r" b="b"/>
            <a:pathLst>
              <a:path w="10003" h="28">
                <a:moveTo>
                  <a:pt x="0" y="0"/>
                </a:moveTo>
                <a:lnTo>
                  <a:pt x="10003" y="0"/>
                </a:lnTo>
                <a:lnTo>
                  <a:pt x="1000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5591160" y="2904840"/>
            <a:ext cx="2324160" cy="10080"/>
          </a:xfrm>
          <a:custGeom>
            <a:avLst/>
            <a:gdLst/>
            <a:ahLst/>
            <a:rect l="0" t="0" r="r" b="b"/>
            <a:pathLst>
              <a:path w="6456" h="28">
                <a:moveTo>
                  <a:pt x="0" y="0"/>
                </a:moveTo>
                <a:lnTo>
                  <a:pt x="6456" y="0"/>
                </a:lnTo>
                <a:lnTo>
                  <a:pt x="645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7914960" y="2904840"/>
            <a:ext cx="790920" cy="10080"/>
          </a:xfrm>
          <a:custGeom>
            <a:avLst/>
            <a:gdLst/>
            <a:ahLst/>
            <a:rect l="0" t="0" r="r" b="b"/>
            <a:pathLst>
              <a:path w="2197" h="28">
                <a:moveTo>
                  <a:pt x="0" y="0"/>
                </a:moveTo>
                <a:lnTo>
                  <a:pt x="2197" y="0"/>
                </a:lnTo>
                <a:lnTo>
                  <a:pt x="21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456840" y="3400200"/>
            <a:ext cx="1533960" cy="10080"/>
          </a:xfrm>
          <a:custGeom>
            <a:avLst/>
            <a:gdLst/>
            <a:ahLst/>
            <a:rect l="0" t="0" r="r" b="b"/>
            <a:pathLst>
              <a:path w="4261" h="28">
                <a:moveTo>
                  <a:pt x="0" y="0"/>
                </a:moveTo>
                <a:lnTo>
                  <a:pt x="4261" y="0"/>
                </a:lnTo>
                <a:lnTo>
                  <a:pt x="426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1990440" y="3400200"/>
            <a:ext cx="3601080" cy="10080"/>
          </a:xfrm>
          <a:custGeom>
            <a:avLst/>
            <a:gdLst/>
            <a:ahLst/>
            <a:rect l="0" t="0" r="r" b="b"/>
            <a:pathLst>
              <a:path w="10003" h="28">
                <a:moveTo>
                  <a:pt x="0" y="0"/>
                </a:moveTo>
                <a:lnTo>
                  <a:pt x="10003" y="0"/>
                </a:lnTo>
                <a:lnTo>
                  <a:pt x="1000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5591160" y="3400200"/>
            <a:ext cx="2324160" cy="10080"/>
          </a:xfrm>
          <a:custGeom>
            <a:avLst/>
            <a:gdLst/>
            <a:ahLst/>
            <a:rect l="0" t="0" r="r" b="b"/>
            <a:pathLst>
              <a:path w="6456" h="28">
                <a:moveTo>
                  <a:pt x="0" y="0"/>
                </a:moveTo>
                <a:lnTo>
                  <a:pt x="6456" y="0"/>
                </a:lnTo>
                <a:lnTo>
                  <a:pt x="645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7914960" y="3400200"/>
            <a:ext cx="790920" cy="10080"/>
          </a:xfrm>
          <a:custGeom>
            <a:avLst/>
            <a:gdLst/>
            <a:ahLst/>
            <a:rect l="0" t="0" r="r" b="b"/>
            <a:pathLst>
              <a:path w="2197" h="28">
                <a:moveTo>
                  <a:pt x="0" y="0"/>
                </a:moveTo>
                <a:lnTo>
                  <a:pt x="2197" y="0"/>
                </a:lnTo>
                <a:lnTo>
                  <a:pt x="21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456840" y="3895560"/>
            <a:ext cx="1533960" cy="9720"/>
          </a:xfrm>
          <a:custGeom>
            <a:avLst/>
            <a:gdLst/>
            <a:ahLst/>
            <a:rect l="0" t="0" r="r" b="b"/>
            <a:pathLst>
              <a:path w="4261" h="27">
                <a:moveTo>
                  <a:pt x="0" y="0"/>
                </a:moveTo>
                <a:lnTo>
                  <a:pt x="4261" y="0"/>
                </a:lnTo>
                <a:lnTo>
                  <a:pt x="426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1990440" y="3895560"/>
            <a:ext cx="3601080" cy="9720"/>
          </a:xfrm>
          <a:custGeom>
            <a:avLst/>
            <a:gdLst/>
            <a:ahLst/>
            <a:rect l="0" t="0" r="r" b="b"/>
            <a:pathLst>
              <a:path w="10003" h="27">
                <a:moveTo>
                  <a:pt x="0" y="0"/>
                </a:moveTo>
                <a:lnTo>
                  <a:pt x="10003" y="0"/>
                </a:lnTo>
                <a:lnTo>
                  <a:pt x="100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5591160" y="3895560"/>
            <a:ext cx="2324160" cy="9720"/>
          </a:xfrm>
          <a:custGeom>
            <a:avLst/>
            <a:gdLst/>
            <a:ahLst/>
            <a:rect l="0" t="0" r="r" b="b"/>
            <a:pathLst>
              <a:path w="6456" h="27">
                <a:moveTo>
                  <a:pt x="0" y="0"/>
                </a:moveTo>
                <a:lnTo>
                  <a:pt x="6456" y="0"/>
                </a:lnTo>
                <a:lnTo>
                  <a:pt x="645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7914960" y="3895560"/>
            <a:ext cx="790920" cy="9720"/>
          </a:xfrm>
          <a:custGeom>
            <a:avLst/>
            <a:gdLst/>
            <a:ahLst/>
            <a:rect l="0" t="0" r="r" b="b"/>
            <a:pathLst>
              <a:path w="2197" h="27">
                <a:moveTo>
                  <a:pt x="0" y="0"/>
                </a:moveTo>
                <a:lnTo>
                  <a:pt x="2197" y="0"/>
                </a:lnTo>
                <a:lnTo>
                  <a:pt x="21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439920" y="843840"/>
            <a:ext cx="41886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vier gaten dichten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563760" y="1622160"/>
            <a:ext cx="250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GAT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2097360" y="1622160"/>
            <a:ext cx="1085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ER GEBEURT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5699880" y="1622160"/>
            <a:ext cx="842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INSCHATTING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8020440" y="1545840"/>
            <a:ext cx="436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HOORT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8020440" y="1698480"/>
            <a:ext cx="166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BIJ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563760" y="2005200"/>
            <a:ext cx="7808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Doorlooptijd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2097360" y="2005200"/>
            <a:ext cx="32925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Norm afspreken van eerste concept naar gedragen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2097360" y="2176560"/>
            <a:ext cx="19378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afspraak, en erop rapporteren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5699880" y="2005200"/>
            <a:ext cx="14166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1 week, projectleiding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8020440" y="2005200"/>
            <a:ext cx="5234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Sowieso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563760" y="2500560"/>
            <a:ext cx="7930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Beheerpartij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2097360" y="2500560"/>
            <a:ext cx="35791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Gesprek met Edustandaard en Npuls over overname na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2097360" y="2681640"/>
            <a:ext cx="3952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aﬂoop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5699880" y="2500560"/>
            <a:ext cx="14317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Maanden doorlooptijd,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5699880" y="2681640"/>
            <a:ext cx="9410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opdrachtgever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8020440" y="2500560"/>
            <a:ext cx="5234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Sowieso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563760" y="2995920"/>
            <a:ext cx="10857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Machineleesbare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563760" y="3177000"/>
            <a:ext cx="6120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interactie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2097360" y="2995920"/>
            <a:ext cx="37483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Interactiepatronen en endpoints ook als schema uitgeven,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2097360" y="3177000"/>
            <a:ext cx="15796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naast de leesbare versie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5699880" y="2995920"/>
            <a:ext cx="22165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3 tot 4 weken, plus onderhoud per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5699880" y="3177000"/>
            <a:ext cx="4716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release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8020440" y="2995920"/>
            <a:ext cx="5583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Besluit 1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563760" y="3491280"/>
            <a:ext cx="9043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OEAPI-binding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2097360" y="3491280"/>
            <a:ext cx="34052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Sleutelnamen en aﬂeveringsmechanisme vastleggen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5699880" y="3491280"/>
            <a:ext cx="18921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4 tot 6 weken, samen met de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5699880" y="3672000"/>
            <a:ext cx="14194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technische werkgroep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8020440" y="3491280"/>
            <a:ext cx="5583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Besluit 1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457200" y="4031280"/>
            <a:ext cx="8368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De eerste twee gebeuren ongeacht de uitkomst; ze staan los van de AI-vraag en zijn al langer bekend. De laatste twee zijn het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457200" y="4231440"/>
            <a:ext cx="54140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onderwerp van besluit 1. De doorlooptijden zijn een inschatting, geen toezegging.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1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19" name=""/>
          <p:cNvSpPr/>
          <p:nvPr/>
        </p:nvSpPr>
        <p:spPr>
          <a:xfrm>
            <a:off x="456840" y="1228680"/>
            <a:ext cx="7915680" cy="1219320"/>
          </a:xfrm>
          <a:custGeom>
            <a:avLst/>
            <a:gdLst/>
            <a:ahLst/>
            <a:rect l="0" t="0" r="r" b="b"/>
            <a:pathLst>
              <a:path w="21988" h="3387">
                <a:moveTo>
                  <a:pt x="0" y="0"/>
                </a:moveTo>
                <a:lnTo>
                  <a:pt x="21988" y="0"/>
                </a:lnTo>
                <a:lnTo>
                  <a:pt x="21988" y="3387"/>
                </a:lnTo>
                <a:lnTo>
                  <a:pt x="0" y="338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456840" y="1228680"/>
            <a:ext cx="7915680" cy="38160"/>
          </a:xfrm>
          <a:custGeom>
            <a:avLst/>
            <a:gdLst/>
            <a:ahLst/>
            <a:rect l="0" t="0" r="r" b="b"/>
            <a:pathLst>
              <a:path w="21988" h="106">
                <a:moveTo>
                  <a:pt x="0" y="0"/>
                </a:moveTo>
                <a:lnTo>
                  <a:pt x="21988" y="0"/>
                </a:lnTo>
                <a:lnTo>
                  <a:pt x="21988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456840" y="2438280"/>
            <a:ext cx="7915680" cy="9720"/>
          </a:xfrm>
          <a:custGeom>
            <a:avLst/>
            <a:gdLst/>
            <a:ahLst/>
            <a:rect l="0" t="0" r="r" b="b"/>
            <a:pathLst>
              <a:path w="21988" h="27">
                <a:moveTo>
                  <a:pt x="0" y="0"/>
                </a:moveTo>
                <a:lnTo>
                  <a:pt x="21988" y="0"/>
                </a:lnTo>
                <a:lnTo>
                  <a:pt x="219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8362800" y="1228680"/>
            <a:ext cx="9720" cy="1219320"/>
          </a:xfrm>
          <a:custGeom>
            <a:avLst/>
            <a:gdLst/>
            <a:ahLst/>
            <a:rect l="0" t="0" r="r" b="b"/>
            <a:pathLst>
              <a:path w="27" h="3387">
                <a:moveTo>
                  <a:pt x="0" y="105"/>
                </a:moveTo>
                <a:lnTo>
                  <a:pt x="0" y="3387"/>
                </a:lnTo>
                <a:lnTo>
                  <a:pt x="27" y="3387"/>
                </a:lnTo>
                <a:lnTo>
                  <a:pt x="27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456840" y="1228680"/>
            <a:ext cx="10080" cy="1219320"/>
          </a:xfrm>
          <a:custGeom>
            <a:avLst/>
            <a:gdLst/>
            <a:ahLst/>
            <a:rect l="0" t="0" r="r" b="b"/>
            <a:pathLst>
              <a:path w="28" h="3387">
                <a:moveTo>
                  <a:pt x="0" y="0"/>
                </a:moveTo>
                <a:lnTo>
                  <a:pt x="0" y="3387"/>
                </a:lnTo>
                <a:lnTo>
                  <a:pt x="28" y="3387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439920" y="624600"/>
            <a:ext cx="66056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Besluit 1: volgorde richting v0.1.0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634320" y="1441440"/>
            <a:ext cx="6787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Besluit nodig op: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of de machineleesbare interactie en de OEAPI-binding voor v0.1.0 af moeten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634320" y="1660680"/>
            <a:ext cx="8196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Door: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opdrachtgever en programmamanagement. De kaderstelling zelf wordt bij v0.1.0 door de kerngroep techniek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634320" y="1870200"/>
            <a:ext cx="2138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beoordeeld; dat blijft hun gate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456840" y="2543040"/>
            <a:ext cx="1619640" cy="295560"/>
          </a:xfrm>
          <a:custGeom>
            <a:avLst/>
            <a:gdLst/>
            <a:ahLst/>
            <a:rect l="0" t="0" r="r" b="b"/>
            <a:pathLst>
              <a:path w="4499" h="821">
                <a:moveTo>
                  <a:pt x="0" y="0"/>
                </a:moveTo>
                <a:lnTo>
                  <a:pt x="4499" y="0"/>
                </a:lnTo>
                <a:lnTo>
                  <a:pt x="4499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2076120" y="2543040"/>
            <a:ext cx="2486520" cy="295560"/>
          </a:xfrm>
          <a:custGeom>
            <a:avLst/>
            <a:gdLst/>
            <a:ahLst/>
            <a:rect l="0" t="0" r="r" b="b"/>
            <a:pathLst>
              <a:path w="6907" h="821">
                <a:moveTo>
                  <a:pt x="0" y="0"/>
                </a:moveTo>
                <a:lnTo>
                  <a:pt x="6907" y="0"/>
                </a:lnTo>
                <a:lnTo>
                  <a:pt x="6907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4562280" y="2543040"/>
            <a:ext cx="3076920" cy="295560"/>
          </a:xfrm>
          <a:custGeom>
            <a:avLst/>
            <a:gdLst/>
            <a:ahLst/>
            <a:rect l="0" t="0" r="r" b="b"/>
            <a:pathLst>
              <a:path w="8547" h="821">
                <a:moveTo>
                  <a:pt x="0" y="0"/>
                </a:moveTo>
                <a:lnTo>
                  <a:pt x="8547" y="0"/>
                </a:lnTo>
                <a:lnTo>
                  <a:pt x="8547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7638840" y="2543040"/>
            <a:ext cx="1067040" cy="295560"/>
          </a:xfrm>
          <a:custGeom>
            <a:avLst/>
            <a:gdLst/>
            <a:ahLst/>
            <a:rect l="0" t="0" r="r" b="b"/>
            <a:pathLst>
              <a:path w="2964" h="821">
                <a:moveTo>
                  <a:pt x="0" y="0"/>
                </a:moveTo>
                <a:lnTo>
                  <a:pt x="2964" y="0"/>
                </a:lnTo>
                <a:lnTo>
                  <a:pt x="2964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456840" y="2828880"/>
            <a:ext cx="1619640" cy="19440"/>
          </a:xfrm>
          <a:custGeom>
            <a:avLst/>
            <a:gdLst/>
            <a:ahLst/>
            <a:rect l="0" t="0" r="r" b="b"/>
            <a:pathLst>
              <a:path w="4499" h="54">
                <a:moveTo>
                  <a:pt x="0" y="0"/>
                </a:moveTo>
                <a:lnTo>
                  <a:pt x="4499" y="0"/>
                </a:lnTo>
                <a:lnTo>
                  <a:pt x="449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2076120" y="2828880"/>
            <a:ext cx="2486520" cy="19440"/>
          </a:xfrm>
          <a:custGeom>
            <a:avLst/>
            <a:gdLst/>
            <a:ahLst/>
            <a:rect l="0" t="0" r="r" b="b"/>
            <a:pathLst>
              <a:path w="6907" h="54">
                <a:moveTo>
                  <a:pt x="0" y="0"/>
                </a:moveTo>
                <a:lnTo>
                  <a:pt x="6907" y="0"/>
                </a:lnTo>
                <a:lnTo>
                  <a:pt x="690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4562280" y="2828880"/>
            <a:ext cx="3076920" cy="19440"/>
          </a:xfrm>
          <a:custGeom>
            <a:avLst/>
            <a:gdLst/>
            <a:ahLst/>
            <a:rect l="0" t="0" r="r" b="b"/>
            <a:pathLst>
              <a:path w="8547" h="54">
                <a:moveTo>
                  <a:pt x="0" y="0"/>
                </a:moveTo>
                <a:lnTo>
                  <a:pt x="8547" y="0"/>
                </a:lnTo>
                <a:lnTo>
                  <a:pt x="854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7638840" y="2828880"/>
            <a:ext cx="1067040" cy="19440"/>
          </a:xfrm>
          <a:custGeom>
            <a:avLst/>
            <a:gdLst/>
            <a:ahLst/>
            <a:rect l="0" t="0" r="r" b="b"/>
            <a:pathLst>
              <a:path w="2964" h="54">
                <a:moveTo>
                  <a:pt x="0" y="0"/>
                </a:moveTo>
                <a:lnTo>
                  <a:pt x="2964" y="0"/>
                </a:lnTo>
                <a:lnTo>
                  <a:pt x="296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456840" y="3333600"/>
            <a:ext cx="1619640" cy="9720"/>
          </a:xfrm>
          <a:custGeom>
            <a:avLst/>
            <a:gdLst/>
            <a:ahLst/>
            <a:rect l="0" t="0" r="r" b="b"/>
            <a:pathLst>
              <a:path w="4499" h="27">
                <a:moveTo>
                  <a:pt x="0" y="0"/>
                </a:moveTo>
                <a:lnTo>
                  <a:pt x="4499" y="0"/>
                </a:lnTo>
                <a:lnTo>
                  <a:pt x="44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2076120" y="3333600"/>
            <a:ext cx="2486520" cy="9720"/>
          </a:xfrm>
          <a:custGeom>
            <a:avLst/>
            <a:gdLst/>
            <a:ahLst/>
            <a:rect l="0" t="0" r="r" b="b"/>
            <a:pathLst>
              <a:path w="6907" h="27">
                <a:moveTo>
                  <a:pt x="0" y="0"/>
                </a:moveTo>
                <a:lnTo>
                  <a:pt x="6907" y="0"/>
                </a:lnTo>
                <a:lnTo>
                  <a:pt x="690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4562280" y="3333600"/>
            <a:ext cx="3076920" cy="9720"/>
          </a:xfrm>
          <a:custGeom>
            <a:avLst/>
            <a:gdLst/>
            <a:ahLst/>
            <a:rect l="0" t="0" r="r" b="b"/>
            <a:pathLst>
              <a:path w="8547" h="27">
                <a:moveTo>
                  <a:pt x="0" y="0"/>
                </a:moveTo>
                <a:lnTo>
                  <a:pt x="8547" y="0"/>
                </a:lnTo>
                <a:lnTo>
                  <a:pt x="8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7638840" y="3333600"/>
            <a:ext cx="1067040" cy="9720"/>
          </a:xfrm>
          <a:custGeom>
            <a:avLst/>
            <a:gdLst/>
            <a:ahLst/>
            <a:rect l="0" t="0" r="r" b="b"/>
            <a:pathLst>
              <a:path w="2964" h="27">
                <a:moveTo>
                  <a:pt x="0" y="0"/>
                </a:moveTo>
                <a:lnTo>
                  <a:pt x="2964" y="0"/>
                </a:lnTo>
                <a:lnTo>
                  <a:pt x="29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0" name=""/>
          <p:cNvSpPr/>
          <p:nvPr/>
        </p:nvSpPr>
        <p:spPr>
          <a:xfrm>
            <a:off x="456840" y="3828960"/>
            <a:ext cx="1619640" cy="9720"/>
          </a:xfrm>
          <a:custGeom>
            <a:avLst/>
            <a:gdLst/>
            <a:ahLst/>
            <a:rect l="0" t="0" r="r" b="b"/>
            <a:pathLst>
              <a:path w="4499" h="27">
                <a:moveTo>
                  <a:pt x="0" y="0"/>
                </a:moveTo>
                <a:lnTo>
                  <a:pt x="4499" y="0"/>
                </a:lnTo>
                <a:lnTo>
                  <a:pt x="44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2076120" y="3828960"/>
            <a:ext cx="2486520" cy="9720"/>
          </a:xfrm>
          <a:custGeom>
            <a:avLst/>
            <a:gdLst/>
            <a:ahLst/>
            <a:rect l="0" t="0" r="r" b="b"/>
            <a:pathLst>
              <a:path w="6907" h="27">
                <a:moveTo>
                  <a:pt x="0" y="0"/>
                </a:moveTo>
                <a:lnTo>
                  <a:pt x="6907" y="0"/>
                </a:lnTo>
                <a:lnTo>
                  <a:pt x="690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4562280" y="3828960"/>
            <a:ext cx="3076920" cy="9720"/>
          </a:xfrm>
          <a:custGeom>
            <a:avLst/>
            <a:gdLst/>
            <a:ahLst/>
            <a:rect l="0" t="0" r="r" b="b"/>
            <a:pathLst>
              <a:path w="8547" h="27">
                <a:moveTo>
                  <a:pt x="0" y="0"/>
                </a:moveTo>
                <a:lnTo>
                  <a:pt x="8547" y="0"/>
                </a:lnTo>
                <a:lnTo>
                  <a:pt x="8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7638840" y="3828960"/>
            <a:ext cx="1067040" cy="9720"/>
          </a:xfrm>
          <a:custGeom>
            <a:avLst/>
            <a:gdLst/>
            <a:ahLst/>
            <a:rect l="0" t="0" r="r" b="b"/>
            <a:pathLst>
              <a:path w="2964" h="27">
                <a:moveTo>
                  <a:pt x="0" y="0"/>
                </a:moveTo>
                <a:lnTo>
                  <a:pt x="2964" y="0"/>
                </a:lnTo>
                <a:lnTo>
                  <a:pt x="29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456840" y="4324320"/>
            <a:ext cx="1619640" cy="9720"/>
          </a:xfrm>
          <a:custGeom>
            <a:avLst/>
            <a:gdLst/>
            <a:ahLst/>
            <a:rect l="0" t="0" r="r" b="b"/>
            <a:pathLst>
              <a:path w="4499" h="27">
                <a:moveTo>
                  <a:pt x="0" y="0"/>
                </a:moveTo>
                <a:lnTo>
                  <a:pt x="4499" y="0"/>
                </a:lnTo>
                <a:lnTo>
                  <a:pt x="44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2076120" y="4324320"/>
            <a:ext cx="2486520" cy="9720"/>
          </a:xfrm>
          <a:custGeom>
            <a:avLst/>
            <a:gdLst/>
            <a:ahLst/>
            <a:rect l="0" t="0" r="r" b="b"/>
            <a:pathLst>
              <a:path w="6907" h="27">
                <a:moveTo>
                  <a:pt x="0" y="0"/>
                </a:moveTo>
                <a:lnTo>
                  <a:pt x="6907" y="0"/>
                </a:lnTo>
                <a:lnTo>
                  <a:pt x="690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4562280" y="4324320"/>
            <a:ext cx="3076920" cy="9720"/>
          </a:xfrm>
          <a:custGeom>
            <a:avLst/>
            <a:gdLst/>
            <a:ahLst/>
            <a:rect l="0" t="0" r="r" b="b"/>
            <a:pathLst>
              <a:path w="8547" h="27">
                <a:moveTo>
                  <a:pt x="0" y="0"/>
                </a:moveTo>
                <a:lnTo>
                  <a:pt x="8547" y="0"/>
                </a:lnTo>
                <a:lnTo>
                  <a:pt x="8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7638840" y="4324320"/>
            <a:ext cx="1067040" cy="9720"/>
          </a:xfrm>
          <a:custGeom>
            <a:avLst/>
            <a:gdLst/>
            <a:ahLst/>
            <a:rect l="0" t="0" r="r" b="b"/>
            <a:pathLst>
              <a:path w="2964" h="27">
                <a:moveTo>
                  <a:pt x="0" y="0"/>
                </a:moveTo>
                <a:lnTo>
                  <a:pt x="2964" y="0"/>
                </a:lnTo>
                <a:lnTo>
                  <a:pt x="29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634320" y="2089080"/>
            <a:ext cx="43531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Voor: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de release-PR van v0.1.0, datum uit de projectplanning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563760" y="2622240"/>
            <a:ext cx="365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OPTIE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2182320" y="2622240"/>
            <a:ext cx="13312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GEVOLG VOOR V0.1.0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4669920" y="2622240"/>
            <a:ext cx="1625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GEVOLG VOOR DE SECTOR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7748280" y="2622240"/>
            <a:ext cx="8740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AANBEVELING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563760" y="2929320"/>
            <a:ext cx="13204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A.</a:t>
            </a:r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 Beide gaten dicht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563760" y="3110040"/>
            <a:ext cx="7275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voor v0.1.0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2182320" y="2929320"/>
            <a:ext cx="16635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Schuift met 4 tot 6 weken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4669920" y="2929320"/>
            <a:ext cx="27392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Leveranciers kunnen bij de review meteen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4669920" y="3110040"/>
            <a:ext cx="14317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automatisch valideren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7748280" y="2929320"/>
            <a:ext cx="2552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Nee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563760" y="3424680"/>
            <a:ext cx="13186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B.</a:t>
            </a:r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 Beide gaten in de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563760" y="3605400"/>
            <a:ext cx="12092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0.1.x-reeks daarna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2182320" y="3424680"/>
            <a:ext cx="23446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v0.1.0 op de geplande datum, gaten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2182320" y="3605400"/>
            <a:ext cx="18705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benoemd in de release notes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4669920" y="3424680"/>
            <a:ext cx="31248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De kerngroep techniek weet wat er nog komt 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4669920" y="3605400"/>
            <a:ext cx="5569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wanneer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7748280" y="3424680"/>
            <a:ext cx="1350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Ja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563760" y="3919680"/>
            <a:ext cx="12441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C.</a:t>
            </a:r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 Beide gaten niet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563760" y="4100760"/>
            <a:ext cx="5158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plannen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2182320" y="3919680"/>
            <a:ext cx="10569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v0.1.0 op datum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4669920" y="3919680"/>
            <a:ext cx="31082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De kerngroep techniek vindt de gaten zelf bij de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4669920" y="4100760"/>
            <a:ext cx="21373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review, zonder antwoord van ons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7748280" y="3919680"/>
            <a:ext cx="2552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Nee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457200" y="4450320"/>
            <a:ext cx="73310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Zonder besluit geldt C. Dat is de enige uitkomst waarin een bevinding van de kerngroep techniek ons overvalt.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8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81" name=""/>
          <p:cNvSpPr/>
          <p:nvPr/>
        </p:nvSpPr>
        <p:spPr>
          <a:xfrm>
            <a:off x="456840" y="1514160"/>
            <a:ext cx="7915680" cy="1000440"/>
          </a:xfrm>
          <a:custGeom>
            <a:avLst/>
            <a:gdLst/>
            <a:ahLst/>
            <a:rect l="0" t="0" r="r" b="b"/>
            <a:pathLst>
              <a:path w="21988" h="2779">
                <a:moveTo>
                  <a:pt x="0" y="0"/>
                </a:moveTo>
                <a:lnTo>
                  <a:pt x="21988" y="0"/>
                </a:lnTo>
                <a:lnTo>
                  <a:pt x="21988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456840" y="151416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456840" y="2504880"/>
            <a:ext cx="7915680" cy="9720"/>
          </a:xfrm>
          <a:custGeom>
            <a:avLst/>
            <a:gdLst/>
            <a:ahLst/>
            <a:rect l="0" t="0" r="r" b="b"/>
            <a:pathLst>
              <a:path w="21988" h="27">
                <a:moveTo>
                  <a:pt x="0" y="0"/>
                </a:moveTo>
                <a:lnTo>
                  <a:pt x="21988" y="0"/>
                </a:lnTo>
                <a:lnTo>
                  <a:pt x="219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8362800" y="1514160"/>
            <a:ext cx="9720" cy="1000440"/>
          </a:xfrm>
          <a:custGeom>
            <a:avLst/>
            <a:gdLst/>
            <a:ahLst/>
            <a:rect l="0" t="0" r="r" b="b"/>
            <a:pathLst>
              <a:path w="27" h="2779">
                <a:moveTo>
                  <a:pt x="0" y="106"/>
                </a:moveTo>
                <a:lnTo>
                  <a:pt x="0" y="2779"/>
                </a:lnTo>
                <a:lnTo>
                  <a:pt x="27" y="2779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456840" y="1514160"/>
            <a:ext cx="10080" cy="1000440"/>
          </a:xfrm>
          <a:custGeom>
            <a:avLst/>
            <a:gdLst/>
            <a:ahLst/>
            <a:rect l="0" t="0" r="r" b="b"/>
            <a:pathLst>
              <a:path w="28" h="2779">
                <a:moveTo>
                  <a:pt x="0" y="0"/>
                </a:moveTo>
                <a:lnTo>
                  <a:pt x="0" y="2779"/>
                </a:lnTo>
                <a:lnTo>
                  <a:pt x="28" y="277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439920" y="910440"/>
            <a:ext cx="5124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Besluit 2: beheer na Npuls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634320" y="1727280"/>
            <a:ext cx="57614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Besluit nodig op: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welke partij de afspraken overneemt als het programma stopt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 txBox="1"/>
          <p:nvPr/>
        </p:nvSpPr>
        <p:spPr>
          <a:xfrm>
            <a:off x="634320" y="1936800"/>
            <a:ext cx="4124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Door: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opdrachtgever, met Npuls-programmamanagement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634320" y="2156040"/>
            <a:ext cx="7937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Voor: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zo snel mogelijk. Dit besluit heeft de langste doorlooptijd van alles in dit deck en staat los van de AI-vraag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457200" y="2835000"/>
            <a:ext cx="8781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De route ligt al vast: standaardiseren volgens AMIGO, richting Edustandaard, dat de OKE-standaard al beheert. Wat niet belegd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457200" y="3063600"/>
            <a:ext cx="5128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is, is de partij die het daadwerkelijk overneemt, met mensen en geld erbij.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457200" y="3444480"/>
            <a:ext cx="8211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Zolang dat open staat, verliest elke afspraak in dit deck geldigheid op de dag dat het programma stopt. Dat is geen AI-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457200" y="3673080"/>
            <a:ext cx="49276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vraagstuk; het zou ook zonder deze discussie opgelost moeten worden.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457200" y="4164480"/>
            <a:ext cx="5941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Gevraagd: een eigenaar en een datum waarop het gesprek met Edustandaard gevoerd is.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0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