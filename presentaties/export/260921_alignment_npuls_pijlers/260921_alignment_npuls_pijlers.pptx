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png" ContentType="image/png"/>
  <Override PartName="/ppt/media/image6.jpeg" ContentType="image/jpe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6.jpe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61200" y="1909080"/>
            <a:ext cx="4494960" cy="49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359" spc="-1" strike="noStrike">
                <a:solidFill>
                  <a:srgbClr val="1a1a2e"/>
                </a:solidFill>
                <a:latin typeface="Arial"/>
                <a:ea typeface="Arial"/>
              </a:rPr>
              <a:t>OKx in samenhang</a:t>
            </a:r>
            <a:endParaRPr b="0" lang="en-US" sz="335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2033640" y="2549520"/>
            <a:ext cx="5951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AII spoor 3 · eduXchange · ontsluiten onderwijsaanbod · OKx: wat is de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2247840" y="2797200"/>
            <a:ext cx="5552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status, waar raken wij elkaar, hoe houden wij elkaar op de hoogte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271680" y="3161160"/>
            <a:ext cx="324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Leren zonder Drempels · 21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 txBox="1"/>
          <p:nvPr/>
        </p:nvSpPr>
        <p:spPr>
          <a:xfrm>
            <a:off x="3993480" y="636480"/>
            <a:ext cx="63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Arial"/>
                <a:ea typeface="Arial"/>
              </a:rPr>
              <a:t>AGE NDA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3990960" y="1733400"/>
            <a:ext cx="324000" cy="324000"/>
          </a:xfrm>
          <a:custGeom>
            <a:avLst/>
            <a:gdLst/>
            <a:ahLst/>
            <a:rect l="0" t="0" r="r" b="b"/>
            <a:pathLst>
              <a:path w="900" h="900">
                <a:moveTo>
                  <a:pt x="900" y="451"/>
                </a:moveTo>
                <a:cubicBezTo>
                  <a:pt x="900" y="480"/>
                  <a:pt x="897" y="509"/>
                  <a:pt x="891" y="538"/>
                </a:cubicBezTo>
                <a:cubicBezTo>
                  <a:pt x="886" y="567"/>
                  <a:pt x="877" y="596"/>
                  <a:pt x="866" y="623"/>
                </a:cubicBezTo>
                <a:cubicBezTo>
                  <a:pt x="855" y="650"/>
                  <a:pt x="841" y="676"/>
                  <a:pt x="824" y="701"/>
                </a:cubicBezTo>
                <a:cubicBezTo>
                  <a:pt x="808" y="725"/>
                  <a:pt x="789" y="748"/>
                  <a:pt x="768" y="769"/>
                </a:cubicBezTo>
                <a:cubicBezTo>
                  <a:pt x="747" y="790"/>
                  <a:pt x="725" y="808"/>
                  <a:pt x="700" y="825"/>
                </a:cubicBezTo>
                <a:cubicBezTo>
                  <a:pt x="676" y="841"/>
                  <a:pt x="650" y="855"/>
                  <a:pt x="622" y="866"/>
                </a:cubicBezTo>
                <a:cubicBezTo>
                  <a:pt x="595" y="878"/>
                  <a:pt x="567" y="886"/>
                  <a:pt x="538" y="892"/>
                </a:cubicBezTo>
                <a:cubicBezTo>
                  <a:pt x="509" y="898"/>
                  <a:pt x="480" y="900"/>
                  <a:pt x="450" y="900"/>
                </a:cubicBezTo>
                <a:cubicBezTo>
                  <a:pt x="421" y="900"/>
                  <a:pt x="392" y="898"/>
                  <a:pt x="363" y="892"/>
                </a:cubicBezTo>
                <a:cubicBezTo>
                  <a:pt x="334" y="886"/>
                  <a:pt x="305" y="878"/>
                  <a:pt x="278" y="866"/>
                </a:cubicBezTo>
                <a:cubicBezTo>
                  <a:pt x="251" y="855"/>
                  <a:pt x="225" y="841"/>
                  <a:pt x="200" y="825"/>
                </a:cubicBezTo>
                <a:cubicBezTo>
                  <a:pt x="176" y="808"/>
                  <a:pt x="153" y="790"/>
                  <a:pt x="131" y="769"/>
                </a:cubicBezTo>
                <a:cubicBezTo>
                  <a:pt x="110" y="748"/>
                  <a:pt x="92" y="725"/>
                  <a:pt x="75" y="701"/>
                </a:cubicBezTo>
                <a:cubicBezTo>
                  <a:pt x="59" y="676"/>
                  <a:pt x="45" y="650"/>
                  <a:pt x="34" y="623"/>
                </a:cubicBezTo>
                <a:cubicBezTo>
                  <a:pt x="22" y="596"/>
                  <a:pt x="14" y="567"/>
                  <a:pt x="8" y="538"/>
                </a:cubicBezTo>
                <a:cubicBezTo>
                  <a:pt x="2" y="509"/>
                  <a:pt x="0" y="480"/>
                  <a:pt x="0" y="451"/>
                </a:cubicBezTo>
                <a:cubicBezTo>
                  <a:pt x="0" y="421"/>
                  <a:pt x="2" y="392"/>
                  <a:pt x="8" y="363"/>
                </a:cubicBezTo>
                <a:cubicBezTo>
                  <a:pt x="14" y="334"/>
                  <a:pt x="22" y="306"/>
                  <a:pt x="34" y="279"/>
                </a:cubicBezTo>
                <a:cubicBezTo>
                  <a:pt x="45" y="251"/>
                  <a:pt x="59" y="225"/>
                  <a:pt x="75" y="201"/>
                </a:cubicBezTo>
                <a:cubicBezTo>
                  <a:pt x="92" y="176"/>
                  <a:pt x="110" y="154"/>
                  <a:pt x="131" y="133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6"/>
                </a:cubicBezTo>
                <a:cubicBezTo>
                  <a:pt x="725" y="92"/>
                  <a:pt x="747" y="111"/>
                  <a:pt x="768" y="133"/>
                </a:cubicBezTo>
                <a:cubicBezTo>
                  <a:pt x="789" y="154"/>
                  <a:pt x="808" y="176"/>
                  <a:pt x="824" y="201"/>
                </a:cubicBezTo>
                <a:cubicBezTo>
                  <a:pt x="841" y="225"/>
                  <a:pt x="855" y="251"/>
                  <a:pt x="866" y="279"/>
                </a:cubicBezTo>
                <a:cubicBezTo>
                  <a:pt x="877" y="306"/>
                  <a:pt x="886" y="334"/>
                  <a:pt x="891" y="363"/>
                </a:cubicBezTo>
                <a:cubicBezTo>
                  <a:pt x="897" y="392"/>
                  <a:pt x="900" y="421"/>
                  <a:pt x="900" y="451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3978360" y="993600"/>
            <a:ext cx="201996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400" spc="-1" strike="noStrike">
                <a:solidFill>
                  <a:srgbClr val="dd784b"/>
                </a:solidFill>
                <a:latin typeface="Arial"/>
                <a:ea typeface="Arial"/>
              </a:rPr>
              <a:t>Drie vragen</a:t>
            </a:r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126680" y="18064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4439160" y="1549440"/>
            <a:ext cx="2623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is (de status van)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4439160" y="1846080"/>
            <a:ext cx="397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focus binnen de instelling, aanpak, waar de speciﬁcaties en het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/>
          <p:nvPr/>
        </p:nvSpPr>
        <p:spPr>
          <a:xfrm>
            <a:off x="3990960" y="275256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0"/>
                </a:moveTo>
                <a:cubicBezTo>
                  <a:pt x="900" y="479"/>
                  <a:pt x="897" y="509"/>
                  <a:pt x="891" y="537"/>
                </a:cubicBezTo>
                <a:cubicBezTo>
                  <a:pt x="886" y="566"/>
                  <a:pt x="877" y="595"/>
                  <a:pt x="866" y="622"/>
                </a:cubicBezTo>
                <a:cubicBezTo>
                  <a:pt x="855" y="649"/>
                  <a:pt x="841" y="675"/>
                  <a:pt x="824" y="700"/>
                </a:cubicBezTo>
                <a:cubicBezTo>
                  <a:pt x="808" y="724"/>
                  <a:pt x="789" y="747"/>
                  <a:pt x="768" y="768"/>
                </a:cubicBezTo>
                <a:cubicBezTo>
                  <a:pt x="747" y="789"/>
                  <a:pt x="725" y="807"/>
                  <a:pt x="700" y="824"/>
                </a:cubicBezTo>
                <a:cubicBezTo>
                  <a:pt x="676" y="840"/>
                  <a:pt x="650" y="854"/>
                  <a:pt x="622" y="865"/>
                </a:cubicBezTo>
                <a:cubicBezTo>
                  <a:pt x="595" y="877"/>
                  <a:pt x="567" y="885"/>
                  <a:pt x="538" y="891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1"/>
                </a:cubicBezTo>
                <a:cubicBezTo>
                  <a:pt x="334" y="885"/>
                  <a:pt x="305" y="877"/>
                  <a:pt x="278" y="865"/>
                </a:cubicBezTo>
                <a:cubicBezTo>
                  <a:pt x="251" y="854"/>
                  <a:pt x="225" y="840"/>
                  <a:pt x="200" y="824"/>
                </a:cubicBezTo>
                <a:cubicBezTo>
                  <a:pt x="176" y="807"/>
                  <a:pt x="153" y="789"/>
                  <a:pt x="131" y="768"/>
                </a:cubicBezTo>
                <a:cubicBezTo>
                  <a:pt x="110" y="747"/>
                  <a:pt x="92" y="724"/>
                  <a:pt x="75" y="700"/>
                </a:cubicBezTo>
                <a:cubicBezTo>
                  <a:pt x="59" y="675"/>
                  <a:pt x="45" y="649"/>
                  <a:pt x="34" y="622"/>
                </a:cubicBezTo>
                <a:cubicBezTo>
                  <a:pt x="22" y="595"/>
                  <a:pt x="14" y="566"/>
                  <a:pt x="8" y="537"/>
                </a:cubicBezTo>
                <a:cubicBezTo>
                  <a:pt x="2" y="509"/>
                  <a:pt x="0" y="479"/>
                  <a:pt x="0" y="450"/>
                </a:cubicBezTo>
                <a:cubicBezTo>
                  <a:pt x="0" y="420"/>
                  <a:pt x="2" y="391"/>
                  <a:pt x="8" y="362"/>
                </a:cubicBezTo>
                <a:cubicBezTo>
                  <a:pt x="14" y="333"/>
                  <a:pt x="22" y="305"/>
                  <a:pt x="34" y="278"/>
                </a:cubicBezTo>
                <a:cubicBezTo>
                  <a:pt x="45" y="250"/>
                  <a:pt x="59" y="224"/>
                  <a:pt x="75" y="200"/>
                </a:cubicBezTo>
                <a:cubicBezTo>
                  <a:pt x="92" y="175"/>
                  <a:pt x="110" y="153"/>
                  <a:pt x="131" y="132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4" y="14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4"/>
                  <a:pt x="595" y="23"/>
                  <a:pt x="622" y="34"/>
                </a:cubicBezTo>
                <a:cubicBezTo>
                  <a:pt x="650" y="45"/>
                  <a:pt x="676" y="59"/>
                  <a:pt x="700" y="76"/>
                </a:cubicBezTo>
                <a:cubicBezTo>
                  <a:pt x="725" y="92"/>
                  <a:pt x="747" y="111"/>
                  <a:pt x="768" y="132"/>
                </a:cubicBezTo>
                <a:cubicBezTo>
                  <a:pt x="789" y="153"/>
                  <a:pt x="808" y="175"/>
                  <a:pt x="824" y="200"/>
                </a:cubicBezTo>
                <a:cubicBezTo>
                  <a:pt x="841" y="224"/>
                  <a:pt x="855" y="250"/>
                  <a:pt x="866" y="278"/>
                </a:cubicBezTo>
                <a:cubicBezTo>
                  <a:pt x="877" y="305"/>
                  <a:pt x="886" y="333"/>
                  <a:pt x="891" y="362"/>
                </a:cubicBezTo>
                <a:cubicBezTo>
                  <a:pt x="897" y="391"/>
                  <a:pt x="900" y="420"/>
                  <a:pt x="900" y="45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439160" y="2093760"/>
            <a:ext cx="1419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informatiemodel staan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107960" y="2825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439160" y="2454120"/>
            <a:ext cx="4462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Waar raakt OKx andere ontwikkelingen wel, 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439160" y="2701800"/>
            <a:ext cx="10810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welke niet?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4439160" y="2989080"/>
            <a:ext cx="3925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twee uitgangspunten als schot voor de boeg; AII, eduXchange,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3990960" y="3657240"/>
            <a:ext cx="324000" cy="324360"/>
          </a:xfrm>
          <a:custGeom>
            <a:avLst/>
            <a:gdLst/>
            <a:ahLst/>
            <a:rect l="0" t="0" r="r" b="b"/>
            <a:pathLst>
              <a:path w="900" h="901">
                <a:moveTo>
                  <a:pt x="900" y="451"/>
                </a:moveTo>
                <a:cubicBezTo>
                  <a:pt x="900" y="481"/>
                  <a:pt x="897" y="510"/>
                  <a:pt x="891" y="539"/>
                </a:cubicBezTo>
                <a:cubicBezTo>
                  <a:pt x="886" y="568"/>
                  <a:pt x="877" y="596"/>
                  <a:pt x="866" y="623"/>
                </a:cubicBezTo>
                <a:cubicBezTo>
                  <a:pt x="855" y="651"/>
                  <a:pt x="841" y="677"/>
                  <a:pt x="824" y="701"/>
                </a:cubicBezTo>
                <a:cubicBezTo>
                  <a:pt x="808" y="726"/>
                  <a:pt x="789" y="748"/>
                  <a:pt x="768" y="769"/>
                </a:cubicBezTo>
                <a:cubicBezTo>
                  <a:pt x="747" y="790"/>
                  <a:pt x="725" y="809"/>
                  <a:pt x="700" y="825"/>
                </a:cubicBezTo>
                <a:cubicBezTo>
                  <a:pt x="676" y="842"/>
                  <a:pt x="650" y="856"/>
                  <a:pt x="622" y="867"/>
                </a:cubicBezTo>
                <a:cubicBezTo>
                  <a:pt x="595" y="878"/>
                  <a:pt x="567" y="887"/>
                  <a:pt x="538" y="892"/>
                </a:cubicBezTo>
                <a:cubicBezTo>
                  <a:pt x="509" y="898"/>
                  <a:pt x="480" y="901"/>
                  <a:pt x="450" y="901"/>
                </a:cubicBezTo>
                <a:cubicBezTo>
                  <a:pt x="421" y="901"/>
                  <a:pt x="392" y="898"/>
                  <a:pt x="363" y="892"/>
                </a:cubicBezTo>
                <a:cubicBezTo>
                  <a:pt x="334" y="887"/>
                  <a:pt x="305" y="878"/>
                  <a:pt x="278" y="867"/>
                </a:cubicBezTo>
                <a:cubicBezTo>
                  <a:pt x="251" y="856"/>
                  <a:pt x="225" y="842"/>
                  <a:pt x="200" y="825"/>
                </a:cubicBezTo>
                <a:cubicBezTo>
                  <a:pt x="176" y="809"/>
                  <a:pt x="153" y="790"/>
                  <a:pt x="131" y="769"/>
                </a:cubicBezTo>
                <a:cubicBezTo>
                  <a:pt x="110" y="748"/>
                  <a:pt x="92" y="726"/>
                  <a:pt x="75" y="701"/>
                </a:cubicBezTo>
                <a:cubicBezTo>
                  <a:pt x="59" y="677"/>
                  <a:pt x="45" y="651"/>
                  <a:pt x="34" y="623"/>
                </a:cubicBezTo>
                <a:cubicBezTo>
                  <a:pt x="22" y="596"/>
                  <a:pt x="14" y="568"/>
                  <a:pt x="8" y="539"/>
                </a:cubicBezTo>
                <a:cubicBezTo>
                  <a:pt x="2" y="510"/>
                  <a:pt x="0" y="481"/>
                  <a:pt x="0" y="451"/>
                </a:cubicBezTo>
                <a:cubicBezTo>
                  <a:pt x="0" y="422"/>
                  <a:pt x="2" y="393"/>
                  <a:pt x="8" y="364"/>
                </a:cubicBezTo>
                <a:cubicBezTo>
                  <a:pt x="14" y="335"/>
                  <a:pt x="22" y="306"/>
                  <a:pt x="34" y="279"/>
                </a:cubicBezTo>
                <a:cubicBezTo>
                  <a:pt x="45" y="252"/>
                  <a:pt x="59" y="226"/>
                  <a:pt x="75" y="201"/>
                </a:cubicBezTo>
                <a:cubicBezTo>
                  <a:pt x="92" y="176"/>
                  <a:pt x="110" y="153"/>
                  <a:pt x="131" y="132"/>
                </a:cubicBezTo>
                <a:cubicBezTo>
                  <a:pt x="153" y="111"/>
                  <a:pt x="176" y="93"/>
                  <a:pt x="200" y="76"/>
                </a:cubicBezTo>
                <a:cubicBezTo>
                  <a:pt x="225" y="60"/>
                  <a:pt x="251" y="46"/>
                  <a:pt x="278" y="35"/>
                </a:cubicBezTo>
                <a:cubicBezTo>
                  <a:pt x="305" y="23"/>
                  <a:pt x="334" y="15"/>
                  <a:pt x="363" y="9"/>
                </a:cubicBezTo>
                <a:cubicBezTo>
                  <a:pt x="392" y="3"/>
                  <a:pt x="421" y="0"/>
                  <a:pt x="450" y="0"/>
                </a:cubicBezTo>
                <a:cubicBezTo>
                  <a:pt x="480" y="0"/>
                  <a:pt x="509" y="3"/>
                  <a:pt x="538" y="9"/>
                </a:cubicBezTo>
                <a:cubicBezTo>
                  <a:pt x="567" y="15"/>
                  <a:pt x="595" y="23"/>
                  <a:pt x="622" y="35"/>
                </a:cubicBezTo>
                <a:cubicBezTo>
                  <a:pt x="650" y="46"/>
                  <a:pt x="676" y="60"/>
                  <a:pt x="700" y="76"/>
                </a:cubicBezTo>
                <a:cubicBezTo>
                  <a:pt x="725" y="93"/>
                  <a:pt x="747" y="111"/>
                  <a:pt x="768" y="132"/>
                </a:cubicBezTo>
                <a:cubicBezTo>
                  <a:pt x="789" y="153"/>
                  <a:pt x="808" y="176"/>
                  <a:pt x="824" y="201"/>
                </a:cubicBezTo>
                <a:cubicBezTo>
                  <a:pt x="841" y="226"/>
                  <a:pt x="855" y="252"/>
                  <a:pt x="866" y="279"/>
                </a:cubicBezTo>
                <a:cubicBezTo>
                  <a:pt x="877" y="306"/>
                  <a:pt x="886" y="335"/>
                  <a:pt x="891" y="364"/>
                </a:cubicBezTo>
                <a:cubicBezTo>
                  <a:pt x="897" y="393"/>
                  <a:pt x="900" y="422"/>
                  <a:pt x="900" y="451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4439160" y="3246480"/>
            <a:ext cx="1055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catalogus, EduID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4107960" y="372096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439160" y="3597120"/>
            <a:ext cx="3522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Hoe houden wij elkaar op de hoogte?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3990960" y="4238280"/>
            <a:ext cx="4429440" cy="581400"/>
          </a:xfrm>
          <a:custGeom>
            <a:avLst/>
            <a:gdLst/>
            <a:ahLst/>
            <a:rect l="0" t="0" r="r" b="b"/>
            <a:pathLst>
              <a:path w="12304" h="1615">
                <a:moveTo>
                  <a:pt x="0" y="0"/>
                </a:moveTo>
                <a:lnTo>
                  <a:pt x="12304" y="0"/>
                </a:lnTo>
                <a:lnTo>
                  <a:pt x="12304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3990960" y="4238280"/>
            <a:ext cx="4429440" cy="38520"/>
          </a:xfrm>
          <a:custGeom>
            <a:avLst/>
            <a:gdLst/>
            <a:ahLst/>
            <a:rect l="0" t="0" r="r" b="b"/>
            <a:pathLst>
              <a:path w="12304" h="107">
                <a:moveTo>
                  <a:pt x="0" y="0"/>
                </a:moveTo>
                <a:lnTo>
                  <a:pt x="12304" y="0"/>
                </a:lnTo>
                <a:lnTo>
                  <a:pt x="12304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3990960" y="4809960"/>
            <a:ext cx="4429440" cy="9720"/>
          </a:xfrm>
          <a:custGeom>
            <a:avLst/>
            <a:gdLst/>
            <a:ahLst/>
            <a:rect l="0" t="0" r="r" b="b"/>
            <a:pathLst>
              <a:path w="12304" h="27">
                <a:moveTo>
                  <a:pt x="0" y="0"/>
                </a:moveTo>
                <a:lnTo>
                  <a:pt x="12304" y="0"/>
                </a:lnTo>
                <a:lnTo>
                  <a:pt x="123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8410320" y="42382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3990960" y="4238280"/>
            <a:ext cx="9720" cy="581400"/>
          </a:xfrm>
          <a:custGeom>
            <a:avLst/>
            <a:gdLst/>
            <a:ahLst/>
            <a:rect l="0" t="0" r="r" b="b"/>
            <a:pathLst>
              <a:path w="27" h="1615">
                <a:moveTo>
                  <a:pt x="0" y="0"/>
                </a:moveTo>
                <a:lnTo>
                  <a:pt x="0" y="1615"/>
                </a:lnTo>
                <a:lnTo>
                  <a:pt x="27" y="161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439160" y="3894120"/>
            <a:ext cx="3598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gaten en onnodige overlap voorkomen; vervolgafspraken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140000" y="4375440"/>
            <a:ext cx="4539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 vandaag: aftasten waar ieder staat en waar het schuurt, en daar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140000" y="4566240"/>
            <a:ext cx="1446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afspraken van maken.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" name=""/>
          <p:cNvSpPr txBox="1"/>
          <p:nvPr/>
        </p:nvSpPr>
        <p:spPr>
          <a:xfrm>
            <a:off x="439920" y="100800"/>
            <a:ext cx="9778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is OKx: standaardkoppelingen binnen de deur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9" name="" descr=""/>
          <p:cNvPicPr/>
          <p:nvPr/>
        </p:nvPicPr>
        <p:blipFill>
          <a:blip r:embed="rId2"/>
          <a:stretch/>
        </p:blipFill>
        <p:spPr>
          <a:xfrm>
            <a:off x="457200" y="1047600"/>
            <a:ext cx="5581440" cy="2123640"/>
          </a:xfrm>
          <a:prstGeom prst="rect">
            <a:avLst/>
          </a:prstGeom>
          <a:ln w="0">
            <a:noFill/>
          </a:ln>
        </p:spPr>
      </p:pic>
      <p:sp>
        <p:nvSpPr>
          <p:cNvPr id="90" name=""/>
          <p:cNvSpPr txBox="1"/>
          <p:nvPr/>
        </p:nvSpPr>
        <p:spPr>
          <a:xfrm>
            <a:off x="439920" y="482040"/>
            <a:ext cx="322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de instelling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6219720" y="4781520"/>
            <a:ext cx="2657880" cy="371520"/>
          </a:xfrm>
          <a:custGeom>
            <a:avLst/>
            <a:gdLst/>
            <a:ahLst/>
            <a:rect l="0" t="0" r="r" b="b"/>
            <a:pathLst>
              <a:path w="7383" h="1032">
                <a:moveTo>
                  <a:pt x="0" y="0"/>
                </a:moveTo>
                <a:lnTo>
                  <a:pt x="7383" y="0"/>
                </a:lnTo>
                <a:lnTo>
                  <a:pt x="7383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6219720" y="4781520"/>
            <a:ext cx="2657880" cy="38160"/>
          </a:xfrm>
          <a:custGeom>
            <a:avLst/>
            <a:gdLst/>
            <a:ahLst/>
            <a:rect l="0" t="0" r="r" b="b"/>
            <a:pathLst>
              <a:path w="7383" h="106">
                <a:moveTo>
                  <a:pt x="0" y="0"/>
                </a:moveTo>
                <a:lnTo>
                  <a:pt x="7383" y="0"/>
                </a:lnTo>
                <a:lnTo>
                  <a:pt x="7383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219720" y="514332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8867520" y="4781520"/>
            <a:ext cx="10080" cy="371520"/>
          </a:xfrm>
          <a:custGeom>
            <a:avLst/>
            <a:gdLst/>
            <a:ahLst/>
            <a:rect l="0" t="0" r="r" b="b"/>
            <a:pathLst>
              <a:path w="28" h="1032">
                <a:moveTo>
                  <a:pt x="0" y="105"/>
                </a:moveTo>
                <a:lnTo>
                  <a:pt x="0" y="1032"/>
                </a:lnTo>
                <a:lnTo>
                  <a:pt x="28" y="103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6219720" y="4781520"/>
            <a:ext cx="9720" cy="371520"/>
          </a:xfrm>
          <a:custGeom>
            <a:avLst/>
            <a:gdLst/>
            <a:ahLst/>
            <a:rect l="0" t="0" r="r" b="b"/>
            <a:pathLst>
              <a:path w="27" h="1032">
                <a:moveTo>
                  <a:pt x="0" y="0"/>
                </a:moveTo>
                <a:lnTo>
                  <a:pt x="0" y="1032"/>
                </a:lnTo>
                <a:lnTo>
                  <a:pt x="27" y="1032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210000" y="11714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457200" y="3218040"/>
            <a:ext cx="5098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Hoofdplaat informatiestromen v1.7, richtinggevend (draagt nog de aanduiding concept).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402240" y="1117800"/>
            <a:ext cx="2821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Binnen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catalogus, planning en rooster,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6402240" y="1374840"/>
            <a:ext cx="2298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studentkeuze, kernregistratie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402240" y="1622520"/>
            <a:ext cx="1844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studentvolgsysteem, LMS,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402240" y="1879560"/>
            <a:ext cx="2079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examinering; de pijlen zijn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210000" y="248580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402240" y="2127240"/>
            <a:ext cx="2311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koppelingen die OKx speciﬁceert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6402240" y="2432160"/>
            <a:ext cx="281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Status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koppelvlakspeciﬁcatie v0.0.2 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6402240" y="2679840"/>
            <a:ext cx="235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review bij de kerngroep techniek;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6402240" y="2936880"/>
            <a:ext cx="1559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v0.1;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6402240" y="3184560"/>
            <a:ext cx="2705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leerroute 1 op 30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402240" y="3441600"/>
            <a:ext cx="2410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september; daarna bouwen via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6210000" y="40384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6402240" y="3689280"/>
            <a:ext cx="2605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scholen, door leveranciers, en testen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6402240" y="3984840"/>
            <a:ext cx="2268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Buiten de deur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werken andere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402240" y="4241880"/>
            <a:ext cx="2842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ontwikkelingen: AII, eduXchange, EduID,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6402240" y="4489560"/>
            <a:ext cx="249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RIO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6351480" y="4916160"/>
            <a:ext cx="2478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Daar zoeken wij vandaag de aansluiting.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123" name="" descr=""/>
          <p:cNvPicPr/>
          <p:nvPr/>
        </p:nvPicPr>
        <p:blipFill>
          <a:blip r:embed="rId2"/>
          <a:stretch/>
        </p:blipFill>
        <p:spPr>
          <a:xfrm>
            <a:off x="457200" y="1009800"/>
            <a:ext cx="5495400" cy="3600000"/>
          </a:xfrm>
          <a:prstGeom prst="rect">
            <a:avLst/>
          </a:prstGeom>
          <a:ln w="0">
            <a:noFill/>
          </a:ln>
        </p:spPr>
      </p:pic>
      <p:sp>
        <p:nvSpPr>
          <p:cNvPr id="124" name=""/>
          <p:cNvSpPr txBox="1"/>
          <p:nvPr/>
        </p:nvSpPr>
        <p:spPr>
          <a:xfrm>
            <a:off x="439920" y="443880"/>
            <a:ext cx="6566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Aanpak: van reis naar 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6134040" y="3990960"/>
            <a:ext cx="2743560" cy="543240"/>
          </a:xfrm>
          <a:custGeom>
            <a:avLst/>
            <a:gdLst/>
            <a:ahLst/>
            <a:rect l="0" t="0" r="r" b="b"/>
            <a:pathLst>
              <a:path w="7621" h="1509">
                <a:moveTo>
                  <a:pt x="0" y="0"/>
                </a:moveTo>
                <a:lnTo>
                  <a:pt x="7621" y="0"/>
                </a:lnTo>
                <a:lnTo>
                  <a:pt x="762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6134040" y="3990960"/>
            <a:ext cx="2743560" cy="38160"/>
          </a:xfrm>
          <a:custGeom>
            <a:avLst/>
            <a:gdLst/>
            <a:ahLst/>
            <a:rect l="0" t="0" r="r" b="b"/>
            <a:pathLst>
              <a:path w="7621" h="106">
                <a:moveTo>
                  <a:pt x="0" y="0"/>
                </a:moveTo>
                <a:lnTo>
                  <a:pt x="7621" y="0"/>
                </a:lnTo>
                <a:lnTo>
                  <a:pt x="762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6134040" y="45241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8867520" y="39909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105"/>
                </a:moveTo>
                <a:lnTo>
                  <a:pt x="0" y="1509"/>
                </a:lnTo>
                <a:lnTo>
                  <a:pt x="28" y="1509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6134040" y="39909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0" y="1509"/>
                </a:lnTo>
                <a:lnTo>
                  <a:pt x="27" y="1509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6124320" y="1133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457200" y="4656600"/>
            <a:ext cx="5801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Schets van Niels, concept: van de PoC-school via het gedeelde perspectief naar de OKx-architectuur.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6313680" y="1079640"/>
            <a:ext cx="238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Negen leerroutes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; per leerroute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6313680" y="1336680"/>
            <a:ext cx="2634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bepalen studentreis en instellingsreis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313680" y="1584360"/>
            <a:ext cx="2847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samen wat er wanneer tussen systemen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6124320" y="21906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313680" y="1841400"/>
            <a:ext cx="2327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beweegt; leerroutes 1 tot 3 eerst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313680" y="2136960"/>
            <a:ext cx="2149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PoC-aanpak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user stories van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313680" y="2394000"/>
            <a:ext cx="2929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koploperscholen, vertaald naar generieke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61243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6313680" y="2641680"/>
            <a:ext cx="2343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stories en modulaire bouwstenen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6313680" y="2946600"/>
            <a:ext cx="19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Speciﬁcatiedocumenten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6313680" y="3194280"/>
            <a:ext cx="2295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techniekagnostisch, modulair uit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6313680" y="3451320"/>
            <a:ext cx="2922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bouwblokken, openbaar en herleidbaar 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6313680" y="3699000"/>
            <a:ext cx="48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GitHub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262920" y="4125600"/>
            <a:ext cx="2158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OKx speciﬁceert het koppelvlak; de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262920" y="4296960"/>
            <a:ext cx="1942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applicatie is van de leverancier.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5" name=""/>
          <p:cNvSpPr/>
          <p:nvPr/>
        </p:nvSpPr>
        <p:spPr>
          <a:xfrm>
            <a:off x="456840" y="1409400"/>
            <a:ext cx="4115160" cy="2315160"/>
          </a:xfrm>
          <a:custGeom>
            <a:avLst/>
            <a:gdLst/>
            <a:ahLst/>
            <a:rect l="0" t="0" r="r" b="b"/>
            <a:pathLst>
              <a:path w="11431" h="6431">
                <a:moveTo>
                  <a:pt x="0" y="0"/>
                </a:moveTo>
                <a:lnTo>
                  <a:pt x="11431" y="0"/>
                </a:lnTo>
                <a:lnTo>
                  <a:pt x="11431" y="6431"/>
                </a:lnTo>
                <a:lnTo>
                  <a:pt x="0" y="64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456840" y="14094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456840" y="371448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562280" y="1409400"/>
            <a:ext cx="9720" cy="2315160"/>
          </a:xfrm>
          <a:custGeom>
            <a:avLst/>
            <a:gdLst/>
            <a:ahLst/>
            <a:rect l="0" t="0" r="r" b="b"/>
            <a:pathLst>
              <a:path w="27" h="6431">
                <a:moveTo>
                  <a:pt x="0" y="106"/>
                </a:moveTo>
                <a:lnTo>
                  <a:pt x="0" y="6431"/>
                </a:lnTo>
                <a:lnTo>
                  <a:pt x="27" y="643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56840" y="1409400"/>
            <a:ext cx="10080" cy="2315160"/>
          </a:xfrm>
          <a:custGeom>
            <a:avLst/>
            <a:gdLst/>
            <a:ahLst/>
            <a:rect l="0" t="0" r="r" b="b"/>
            <a:pathLst>
              <a:path w="28" h="6431">
                <a:moveTo>
                  <a:pt x="0" y="0"/>
                </a:moveTo>
                <a:lnTo>
                  <a:pt x="0" y="6431"/>
                </a:lnTo>
                <a:lnTo>
                  <a:pt x="28" y="64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39920" y="786600"/>
            <a:ext cx="9394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uitgangspunten die verder reiken dan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19200" y="1620720"/>
            <a:ext cx="44996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1. Kiezen door lerenden: tot en met de leeractiviteit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19200" y="1916640"/>
            <a:ext cx="4214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Drie niveaus in de koppelingen, gekozen op organiseerbaarheid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618840" y="2371680"/>
            <a:ext cx="209880" cy="209880"/>
          </a:xfrm>
          <a:custGeom>
            <a:avLst/>
            <a:gdLst/>
            <a:ahLst/>
            <a:rect l="0" t="0" r="r" b="b"/>
            <a:pathLst>
              <a:path w="583" h="583">
                <a:moveTo>
                  <a:pt x="583" y="292"/>
                </a:moveTo>
                <a:cubicBezTo>
                  <a:pt x="583" y="311"/>
                  <a:pt x="582" y="330"/>
                  <a:pt x="578" y="348"/>
                </a:cubicBezTo>
                <a:cubicBezTo>
                  <a:pt x="574" y="367"/>
                  <a:pt x="569" y="385"/>
                  <a:pt x="561" y="403"/>
                </a:cubicBezTo>
                <a:cubicBezTo>
                  <a:pt x="554" y="421"/>
                  <a:pt x="545" y="437"/>
                  <a:pt x="534" y="453"/>
                </a:cubicBezTo>
                <a:cubicBezTo>
                  <a:pt x="524" y="469"/>
                  <a:pt x="512" y="484"/>
                  <a:pt x="498" y="497"/>
                </a:cubicBezTo>
                <a:cubicBezTo>
                  <a:pt x="485" y="511"/>
                  <a:pt x="470" y="523"/>
                  <a:pt x="454" y="534"/>
                </a:cubicBezTo>
                <a:cubicBezTo>
                  <a:pt x="438" y="544"/>
                  <a:pt x="421" y="553"/>
                  <a:pt x="404" y="561"/>
                </a:cubicBezTo>
                <a:cubicBezTo>
                  <a:pt x="386" y="568"/>
                  <a:pt x="368" y="573"/>
                  <a:pt x="349" y="577"/>
                </a:cubicBezTo>
                <a:cubicBezTo>
                  <a:pt x="330" y="581"/>
                  <a:pt x="310" y="583"/>
                  <a:pt x="291" y="583"/>
                </a:cubicBezTo>
                <a:cubicBezTo>
                  <a:pt x="272" y="583"/>
                  <a:pt x="253" y="581"/>
                  <a:pt x="235" y="577"/>
                </a:cubicBezTo>
                <a:cubicBezTo>
                  <a:pt x="216" y="573"/>
                  <a:pt x="198" y="568"/>
                  <a:pt x="180" y="561"/>
                </a:cubicBezTo>
                <a:cubicBezTo>
                  <a:pt x="162" y="553"/>
                  <a:pt x="146" y="544"/>
                  <a:pt x="130" y="534"/>
                </a:cubicBezTo>
                <a:cubicBezTo>
                  <a:pt x="114" y="523"/>
                  <a:pt x="99" y="511"/>
                  <a:pt x="86" y="497"/>
                </a:cubicBezTo>
                <a:cubicBezTo>
                  <a:pt x="72" y="484"/>
                  <a:pt x="60" y="469"/>
                  <a:pt x="49" y="453"/>
                </a:cubicBezTo>
                <a:cubicBezTo>
                  <a:pt x="39" y="437"/>
                  <a:pt x="30" y="421"/>
                  <a:pt x="22" y="403"/>
                </a:cubicBezTo>
                <a:cubicBezTo>
                  <a:pt x="15" y="385"/>
                  <a:pt x="10" y="367"/>
                  <a:pt x="6" y="348"/>
                </a:cubicBezTo>
                <a:cubicBezTo>
                  <a:pt x="2" y="330"/>
                  <a:pt x="0" y="311"/>
                  <a:pt x="0" y="292"/>
                </a:cubicBezTo>
                <a:cubicBezTo>
                  <a:pt x="0" y="273"/>
                  <a:pt x="2" y="254"/>
                  <a:pt x="6" y="235"/>
                </a:cubicBezTo>
                <a:cubicBezTo>
                  <a:pt x="10" y="216"/>
                  <a:pt x="15" y="198"/>
                  <a:pt x="22" y="180"/>
                </a:cubicBezTo>
                <a:cubicBezTo>
                  <a:pt x="30" y="163"/>
                  <a:pt x="39" y="146"/>
                  <a:pt x="49" y="130"/>
                </a:cubicBezTo>
                <a:cubicBezTo>
                  <a:pt x="60" y="114"/>
                  <a:pt x="72" y="98"/>
                  <a:pt x="86" y="85"/>
                </a:cubicBezTo>
                <a:cubicBezTo>
                  <a:pt x="99" y="71"/>
                  <a:pt x="114" y="59"/>
                  <a:pt x="130" y="49"/>
                </a:cubicBezTo>
                <a:cubicBezTo>
                  <a:pt x="146" y="38"/>
                  <a:pt x="162" y="29"/>
                  <a:pt x="180" y="22"/>
                </a:cubicBezTo>
                <a:cubicBezTo>
                  <a:pt x="198" y="14"/>
                  <a:pt x="216" y="9"/>
                  <a:pt x="235" y="5"/>
                </a:cubicBezTo>
                <a:cubicBezTo>
                  <a:pt x="253" y="1"/>
                  <a:pt x="272" y="0"/>
                  <a:pt x="291" y="0"/>
                </a:cubicBezTo>
                <a:cubicBezTo>
                  <a:pt x="310" y="0"/>
                  <a:pt x="330" y="1"/>
                  <a:pt x="349" y="5"/>
                </a:cubicBezTo>
                <a:cubicBezTo>
                  <a:pt x="368" y="9"/>
                  <a:pt x="386" y="14"/>
                  <a:pt x="404" y="22"/>
                </a:cubicBezTo>
                <a:cubicBezTo>
                  <a:pt x="421" y="29"/>
                  <a:pt x="438" y="38"/>
                  <a:pt x="454" y="49"/>
                </a:cubicBezTo>
                <a:cubicBezTo>
                  <a:pt x="470" y="59"/>
                  <a:pt x="485" y="71"/>
                  <a:pt x="498" y="85"/>
                </a:cubicBezTo>
                <a:cubicBezTo>
                  <a:pt x="512" y="98"/>
                  <a:pt x="524" y="114"/>
                  <a:pt x="534" y="130"/>
                </a:cubicBezTo>
                <a:cubicBezTo>
                  <a:pt x="545" y="146"/>
                  <a:pt x="554" y="163"/>
                  <a:pt x="561" y="180"/>
                </a:cubicBezTo>
                <a:cubicBezTo>
                  <a:pt x="569" y="198"/>
                  <a:pt x="574" y="216"/>
                  <a:pt x="578" y="235"/>
                </a:cubicBezTo>
                <a:cubicBezTo>
                  <a:pt x="582" y="254"/>
                  <a:pt x="583" y="273"/>
                  <a:pt x="583" y="29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619200" y="2116800"/>
            <a:ext cx="1248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en betaalbaarheid: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706680" y="240840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618840" y="2638080"/>
            <a:ext cx="209880" cy="210240"/>
          </a:xfrm>
          <a:custGeom>
            <a:avLst/>
            <a:gdLst/>
            <a:ahLst/>
            <a:rect l="0" t="0" r="r" b="b"/>
            <a:pathLst>
              <a:path w="583" h="584">
                <a:moveTo>
                  <a:pt x="583" y="291"/>
                </a:moveTo>
                <a:cubicBezTo>
                  <a:pt x="583" y="311"/>
                  <a:pt x="582" y="330"/>
                  <a:pt x="578" y="348"/>
                </a:cubicBezTo>
                <a:cubicBezTo>
                  <a:pt x="574" y="367"/>
                  <a:pt x="569" y="385"/>
                  <a:pt x="561" y="403"/>
                </a:cubicBezTo>
                <a:cubicBezTo>
                  <a:pt x="554" y="421"/>
                  <a:pt x="545" y="437"/>
                  <a:pt x="534" y="453"/>
                </a:cubicBezTo>
                <a:cubicBezTo>
                  <a:pt x="524" y="469"/>
                  <a:pt x="512" y="484"/>
                  <a:pt x="498" y="497"/>
                </a:cubicBezTo>
                <a:cubicBezTo>
                  <a:pt x="485" y="511"/>
                  <a:pt x="470" y="523"/>
                  <a:pt x="454" y="534"/>
                </a:cubicBezTo>
                <a:cubicBezTo>
                  <a:pt x="438" y="545"/>
                  <a:pt x="421" y="554"/>
                  <a:pt x="404" y="561"/>
                </a:cubicBezTo>
                <a:cubicBezTo>
                  <a:pt x="386" y="569"/>
                  <a:pt x="368" y="574"/>
                  <a:pt x="349" y="578"/>
                </a:cubicBezTo>
                <a:cubicBezTo>
                  <a:pt x="330" y="582"/>
                  <a:pt x="310" y="584"/>
                  <a:pt x="291" y="584"/>
                </a:cubicBezTo>
                <a:cubicBezTo>
                  <a:pt x="272" y="584"/>
                  <a:pt x="253" y="582"/>
                  <a:pt x="235" y="578"/>
                </a:cubicBezTo>
                <a:cubicBezTo>
                  <a:pt x="216" y="574"/>
                  <a:pt x="198" y="569"/>
                  <a:pt x="180" y="561"/>
                </a:cubicBezTo>
                <a:cubicBezTo>
                  <a:pt x="162" y="554"/>
                  <a:pt x="146" y="545"/>
                  <a:pt x="130" y="534"/>
                </a:cubicBezTo>
                <a:cubicBezTo>
                  <a:pt x="114" y="523"/>
                  <a:pt x="99" y="511"/>
                  <a:pt x="86" y="497"/>
                </a:cubicBezTo>
                <a:cubicBezTo>
                  <a:pt x="72" y="484"/>
                  <a:pt x="60" y="469"/>
                  <a:pt x="49" y="453"/>
                </a:cubicBezTo>
                <a:cubicBezTo>
                  <a:pt x="39" y="437"/>
                  <a:pt x="30" y="421"/>
                  <a:pt x="22" y="403"/>
                </a:cubicBezTo>
                <a:cubicBezTo>
                  <a:pt x="15" y="385"/>
                  <a:pt x="10" y="367"/>
                  <a:pt x="6" y="348"/>
                </a:cubicBezTo>
                <a:cubicBezTo>
                  <a:pt x="2" y="330"/>
                  <a:pt x="0" y="311"/>
                  <a:pt x="0" y="291"/>
                </a:cubicBezTo>
                <a:cubicBezTo>
                  <a:pt x="0" y="272"/>
                  <a:pt x="2" y="253"/>
                  <a:pt x="6" y="235"/>
                </a:cubicBezTo>
                <a:cubicBezTo>
                  <a:pt x="10" y="216"/>
                  <a:pt x="15" y="198"/>
                  <a:pt x="22" y="180"/>
                </a:cubicBezTo>
                <a:cubicBezTo>
                  <a:pt x="30" y="162"/>
                  <a:pt x="39" y="146"/>
                  <a:pt x="49" y="130"/>
                </a:cubicBezTo>
                <a:cubicBezTo>
                  <a:pt x="60" y="114"/>
                  <a:pt x="72" y="99"/>
                  <a:pt x="86" y="86"/>
                </a:cubicBezTo>
                <a:cubicBezTo>
                  <a:pt x="99" y="72"/>
                  <a:pt x="114" y="60"/>
                  <a:pt x="130" y="50"/>
                </a:cubicBezTo>
                <a:cubicBezTo>
                  <a:pt x="146" y="39"/>
                  <a:pt x="162" y="30"/>
                  <a:pt x="180" y="23"/>
                </a:cubicBezTo>
                <a:cubicBezTo>
                  <a:pt x="198" y="15"/>
                  <a:pt x="216" y="10"/>
                  <a:pt x="235" y="6"/>
                </a:cubicBezTo>
                <a:cubicBezTo>
                  <a:pt x="253" y="2"/>
                  <a:pt x="272" y="0"/>
                  <a:pt x="291" y="0"/>
                </a:cubicBezTo>
                <a:cubicBezTo>
                  <a:pt x="310" y="0"/>
                  <a:pt x="330" y="2"/>
                  <a:pt x="349" y="6"/>
                </a:cubicBezTo>
                <a:cubicBezTo>
                  <a:pt x="368" y="10"/>
                  <a:pt x="386" y="15"/>
                  <a:pt x="404" y="23"/>
                </a:cubicBezTo>
                <a:cubicBezTo>
                  <a:pt x="421" y="30"/>
                  <a:pt x="438" y="39"/>
                  <a:pt x="454" y="50"/>
                </a:cubicBezTo>
                <a:cubicBezTo>
                  <a:pt x="470" y="60"/>
                  <a:pt x="485" y="72"/>
                  <a:pt x="498" y="86"/>
                </a:cubicBezTo>
                <a:cubicBezTo>
                  <a:pt x="512" y="99"/>
                  <a:pt x="524" y="114"/>
                  <a:pt x="534" y="130"/>
                </a:cubicBezTo>
                <a:cubicBezTo>
                  <a:pt x="545" y="146"/>
                  <a:pt x="554" y="162"/>
                  <a:pt x="561" y="180"/>
                </a:cubicBezTo>
                <a:cubicBezTo>
                  <a:pt x="569" y="198"/>
                  <a:pt x="574" y="216"/>
                  <a:pt x="578" y="235"/>
                </a:cubicBezTo>
                <a:cubicBezTo>
                  <a:pt x="582" y="253"/>
                  <a:pt x="583" y="272"/>
                  <a:pt x="583" y="291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832320" y="2397600"/>
            <a:ext cx="36126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 </a:t>
            </a:r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opleiding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· in OKx: opleiding en opleidingsprogramma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692280" y="267516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618840" y="2904840"/>
            <a:ext cx="209880" cy="209880"/>
          </a:xfrm>
          <a:custGeom>
            <a:avLst/>
            <a:gdLst/>
            <a:ahLst/>
            <a:rect l="0" t="0" r="r" b="b"/>
            <a:pathLst>
              <a:path w="583" h="583">
                <a:moveTo>
                  <a:pt x="583" y="291"/>
                </a:moveTo>
                <a:cubicBezTo>
                  <a:pt x="583" y="310"/>
                  <a:pt x="582" y="329"/>
                  <a:pt x="578" y="348"/>
                </a:cubicBezTo>
                <a:cubicBezTo>
                  <a:pt x="574" y="367"/>
                  <a:pt x="569" y="386"/>
                  <a:pt x="561" y="404"/>
                </a:cubicBezTo>
                <a:cubicBezTo>
                  <a:pt x="554" y="421"/>
                  <a:pt x="545" y="438"/>
                  <a:pt x="534" y="454"/>
                </a:cubicBezTo>
                <a:cubicBezTo>
                  <a:pt x="524" y="470"/>
                  <a:pt x="512" y="485"/>
                  <a:pt x="498" y="498"/>
                </a:cubicBezTo>
                <a:cubicBezTo>
                  <a:pt x="485" y="512"/>
                  <a:pt x="470" y="524"/>
                  <a:pt x="454" y="534"/>
                </a:cubicBezTo>
                <a:cubicBezTo>
                  <a:pt x="438" y="545"/>
                  <a:pt x="421" y="554"/>
                  <a:pt x="404" y="561"/>
                </a:cubicBezTo>
                <a:cubicBezTo>
                  <a:pt x="386" y="569"/>
                  <a:pt x="368" y="574"/>
                  <a:pt x="349" y="578"/>
                </a:cubicBezTo>
                <a:cubicBezTo>
                  <a:pt x="330" y="582"/>
                  <a:pt x="310" y="583"/>
                  <a:pt x="291" y="583"/>
                </a:cubicBezTo>
                <a:cubicBezTo>
                  <a:pt x="272" y="583"/>
                  <a:pt x="253" y="582"/>
                  <a:pt x="235" y="578"/>
                </a:cubicBezTo>
                <a:cubicBezTo>
                  <a:pt x="216" y="574"/>
                  <a:pt x="198" y="569"/>
                  <a:pt x="180" y="561"/>
                </a:cubicBezTo>
                <a:cubicBezTo>
                  <a:pt x="162" y="554"/>
                  <a:pt x="146" y="545"/>
                  <a:pt x="130" y="534"/>
                </a:cubicBezTo>
                <a:cubicBezTo>
                  <a:pt x="114" y="524"/>
                  <a:pt x="99" y="512"/>
                  <a:pt x="86" y="498"/>
                </a:cubicBezTo>
                <a:cubicBezTo>
                  <a:pt x="72" y="485"/>
                  <a:pt x="60" y="470"/>
                  <a:pt x="49" y="454"/>
                </a:cubicBezTo>
                <a:cubicBezTo>
                  <a:pt x="39" y="438"/>
                  <a:pt x="30" y="421"/>
                  <a:pt x="22" y="404"/>
                </a:cubicBezTo>
                <a:cubicBezTo>
                  <a:pt x="15" y="386"/>
                  <a:pt x="10" y="367"/>
                  <a:pt x="6" y="348"/>
                </a:cubicBezTo>
                <a:cubicBezTo>
                  <a:pt x="2" y="329"/>
                  <a:pt x="0" y="310"/>
                  <a:pt x="0" y="291"/>
                </a:cubicBezTo>
                <a:cubicBezTo>
                  <a:pt x="0" y="272"/>
                  <a:pt x="2" y="253"/>
                  <a:pt x="6" y="235"/>
                </a:cubicBezTo>
                <a:cubicBezTo>
                  <a:pt x="10" y="216"/>
                  <a:pt x="15" y="198"/>
                  <a:pt x="22" y="180"/>
                </a:cubicBezTo>
                <a:cubicBezTo>
                  <a:pt x="30" y="162"/>
                  <a:pt x="39" y="146"/>
                  <a:pt x="49" y="130"/>
                </a:cubicBezTo>
                <a:cubicBezTo>
                  <a:pt x="60" y="114"/>
                  <a:pt x="72" y="99"/>
                  <a:pt x="86" y="86"/>
                </a:cubicBezTo>
                <a:cubicBezTo>
                  <a:pt x="99" y="72"/>
                  <a:pt x="114" y="60"/>
                  <a:pt x="130" y="49"/>
                </a:cubicBezTo>
                <a:cubicBezTo>
                  <a:pt x="146" y="39"/>
                  <a:pt x="162" y="30"/>
                  <a:pt x="180" y="22"/>
                </a:cubicBezTo>
                <a:cubicBezTo>
                  <a:pt x="198" y="15"/>
                  <a:pt x="216" y="10"/>
                  <a:pt x="235" y="6"/>
                </a:cubicBezTo>
                <a:cubicBezTo>
                  <a:pt x="253" y="2"/>
                  <a:pt x="272" y="0"/>
                  <a:pt x="291" y="0"/>
                </a:cubicBezTo>
                <a:cubicBezTo>
                  <a:pt x="310" y="0"/>
                  <a:pt x="330" y="2"/>
                  <a:pt x="349" y="6"/>
                </a:cubicBezTo>
                <a:cubicBezTo>
                  <a:pt x="368" y="10"/>
                  <a:pt x="386" y="15"/>
                  <a:pt x="404" y="22"/>
                </a:cubicBezTo>
                <a:cubicBezTo>
                  <a:pt x="421" y="30"/>
                  <a:pt x="438" y="39"/>
                  <a:pt x="454" y="49"/>
                </a:cubicBezTo>
                <a:cubicBezTo>
                  <a:pt x="470" y="60"/>
                  <a:pt x="485" y="72"/>
                  <a:pt x="498" y="86"/>
                </a:cubicBezTo>
                <a:cubicBezTo>
                  <a:pt x="512" y="99"/>
                  <a:pt x="524" y="114"/>
                  <a:pt x="534" y="130"/>
                </a:cubicBezTo>
                <a:cubicBezTo>
                  <a:pt x="545" y="146"/>
                  <a:pt x="554" y="162"/>
                  <a:pt x="561" y="180"/>
                </a:cubicBezTo>
                <a:cubicBezTo>
                  <a:pt x="569" y="198"/>
                  <a:pt x="574" y="216"/>
                  <a:pt x="578" y="235"/>
                </a:cubicBezTo>
                <a:cubicBezTo>
                  <a:pt x="582" y="253"/>
                  <a:pt x="583" y="272"/>
                  <a:pt x="583" y="291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832320" y="2664360"/>
            <a:ext cx="33174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 </a:t>
            </a:r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opleidingsonderdeel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· in OKx: onderwijseenheid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92280" y="294192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832320" y="2931120"/>
            <a:ext cx="38106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 </a:t>
            </a:r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leeractiviteit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· in OKx: leeronderdeel en leergelegenheid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619200" y="3233880"/>
            <a:ext cx="43030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De les blijft bij de instelling: die regelt het functioneel of in de klas,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4762440" y="1409400"/>
            <a:ext cx="4115160" cy="2267280"/>
          </a:xfrm>
          <a:custGeom>
            <a:avLst/>
            <a:gdLst/>
            <a:ahLst/>
            <a:rect l="0" t="0" r="r" b="b"/>
            <a:pathLst>
              <a:path w="11431" h="6298">
                <a:moveTo>
                  <a:pt x="0" y="0"/>
                </a:moveTo>
                <a:lnTo>
                  <a:pt x="11431" y="0"/>
                </a:lnTo>
                <a:lnTo>
                  <a:pt x="11431" y="6298"/>
                </a:lnTo>
                <a:lnTo>
                  <a:pt x="0" y="62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4762440" y="14094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4762440" y="36669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8867520" y="1409400"/>
            <a:ext cx="10080" cy="2267280"/>
          </a:xfrm>
          <a:custGeom>
            <a:avLst/>
            <a:gdLst/>
            <a:ahLst/>
            <a:rect l="0" t="0" r="r" b="b"/>
            <a:pathLst>
              <a:path w="28" h="6298">
                <a:moveTo>
                  <a:pt x="0" y="106"/>
                </a:moveTo>
                <a:lnTo>
                  <a:pt x="0" y="6298"/>
                </a:lnTo>
                <a:lnTo>
                  <a:pt x="28" y="629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762440" y="1409400"/>
            <a:ext cx="9720" cy="2267280"/>
          </a:xfrm>
          <a:custGeom>
            <a:avLst/>
            <a:gdLst/>
            <a:ahLst/>
            <a:rect l="0" t="0" r="r" b="b"/>
            <a:pathLst>
              <a:path w="27" h="6298">
                <a:moveTo>
                  <a:pt x="0" y="0"/>
                </a:moveTo>
                <a:lnTo>
                  <a:pt x="0" y="6298"/>
                </a:lnTo>
                <a:lnTo>
                  <a:pt x="27" y="629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19200" y="3424680"/>
            <a:ext cx="37969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de standaardkoppelingen gaan tot en met de leeractiviteit.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4928040" y="1620720"/>
            <a:ext cx="3501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2. Leeruitkomsten als ordenend principe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928040" y="1916640"/>
            <a:ext cx="4220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OKx sluit volledig aan op de leeruitkomst (LUK) zoals besproken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4928040" y="2116800"/>
            <a:ext cx="38152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op de LUK-dag van 3 juni bij de MBO Raad, wetend dat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4928040" y="2316600"/>
            <a:ext cx="1578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deﬁnities nog bewegen.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4928040" y="2605320"/>
            <a:ext cx="4249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In het informatiemodel is de leeruitkomst de sleutel: speciﬁcaties,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4928040" y="2795760"/>
            <a:ext cx="41126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toets- en examenonderdelen en de resultaatstructuur verwijzen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4928040" y="2986200"/>
            <a:ext cx="3243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ernaar. De instelling vult haar in vanuit haar eigen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928040" y="3177000"/>
            <a:ext cx="3806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onderwijskundig kader; het kwaliﬁcatiedossier zegt wat,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56840" y="3848040"/>
            <a:ext cx="8420760" cy="619200"/>
          </a:xfrm>
          <a:custGeom>
            <a:avLst/>
            <a:gdLst/>
            <a:ahLst/>
            <a:rect l="0" t="0" r="r" b="b"/>
            <a:pathLst>
              <a:path w="23391" h="1720">
                <a:moveTo>
                  <a:pt x="0" y="0"/>
                </a:moveTo>
                <a:lnTo>
                  <a:pt x="23391" y="0"/>
                </a:lnTo>
                <a:lnTo>
                  <a:pt x="23391" y="1720"/>
                </a:lnTo>
                <a:lnTo>
                  <a:pt x="0" y="17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56840" y="3848040"/>
            <a:ext cx="8420760" cy="38160"/>
          </a:xfrm>
          <a:custGeom>
            <a:avLst/>
            <a:gdLst/>
            <a:ahLst/>
            <a:rect l="0" t="0" r="r" b="b"/>
            <a:pathLst>
              <a:path w="23391" h="106">
                <a:moveTo>
                  <a:pt x="0" y="0"/>
                </a:moveTo>
                <a:lnTo>
                  <a:pt x="23391" y="0"/>
                </a:lnTo>
                <a:lnTo>
                  <a:pt x="2339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56840" y="44575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8867520" y="3848040"/>
            <a:ext cx="10080" cy="619200"/>
          </a:xfrm>
          <a:custGeom>
            <a:avLst/>
            <a:gdLst/>
            <a:ahLst/>
            <a:rect l="0" t="0" r="r" b="b"/>
            <a:pathLst>
              <a:path w="28" h="1720">
                <a:moveTo>
                  <a:pt x="0" y="105"/>
                </a:moveTo>
                <a:lnTo>
                  <a:pt x="0" y="1720"/>
                </a:lnTo>
                <a:lnTo>
                  <a:pt x="28" y="1720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456840" y="3848040"/>
            <a:ext cx="10080" cy="619200"/>
          </a:xfrm>
          <a:custGeom>
            <a:avLst/>
            <a:gdLst/>
            <a:ahLst/>
            <a:rect l="0" t="0" r="r" b="b"/>
            <a:pathLst>
              <a:path w="28" h="1720">
                <a:moveTo>
                  <a:pt x="0" y="0"/>
                </a:moveTo>
                <a:lnTo>
                  <a:pt x="0" y="1720"/>
                </a:lnTo>
                <a:lnTo>
                  <a:pt x="28" y="1720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928040" y="3376800"/>
            <a:ext cx="35715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374151"/>
                </a:solidFill>
                <a:latin typeface="Arial"/>
                <a:ea typeface="Arial"/>
              </a:rPr>
              <a:t>leeruitkomst zegt waar en hoe de student het laat zien.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619200" y="3987360"/>
            <a:ext cx="9300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De vraag aan de tafel: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maken andere ontwikkelingen binnen LZD dezelfde keuzes, of andere? Dan weten wij dat liever nu dan bij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619200" y="4197240"/>
            <a:ext cx="1712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oplevering van de keten.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4" name=""/>
          <p:cNvSpPr/>
          <p:nvPr/>
        </p:nvSpPr>
        <p:spPr>
          <a:xfrm>
            <a:off x="456840" y="1342800"/>
            <a:ext cx="1915200" cy="305280"/>
          </a:xfrm>
          <a:custGeom>
            <a:avLst/>
            <a:gdLst/>
            <a:ahLst/>
            <a:rect l="0" t="0" r="r" b="b"/>
            <a:pathLst>
              <a:path w="5320" h="848">
                <a:moveTo>
                  <a:pt x="0" y="0"/>
                </a:moveTo>
                <a:lnTo>
                  <a:pt x="5320" y="0"/>
                </a:lnTo>
                <a:lnTo>
                  <a:pt x="532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2371680" y="1342800"/>
            <a:ext cx="2657520" cy="305280"/>
          </a:xfrm>
          <a:custGeom>
            <a:avLst/>
            <a:gdLst/>
            <a:ahLst/>
            <a:rect l="0" t="0" r="r" b="b"/>
            <a:pathLst>
              <a:path w="7382" h="848">
                <a:moveTo>
                  <a:pt x="0" y="0"/>
                </a:moveTo>
                <a:lnTo>
                  <a:pt x="7382" y="0"/>
                </a:lnTo>
                <a:lnTo>
                  <a:pt x="738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456840" y="1638000"/>
            <a:ext cx="1915200" cy="19440"/>
          </a:xfrm>
          <a:custGeom>
            <a:avLst/>
            <a:gdLst/>
            <a:ahLst/>
            <a:rect l="0" t="0" r="r" b="b"/>
            <a:pathLst>
              <a:path w="5320" h="54">
                <a:moveTo>
                  <a:pt x="0" y="0"/>
                </a:moveTo>
                <a:lnTo>
                  <a:pt x="5320" y="0"/>
                </a:lnTo>
                <a:lnTo>
                  <a:pt x="532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2371680" y="1638000"/>
            <a:ext cx="2657520" cy="19440"/>
          </a:xfrm>
          <a:custGeom>
            <a:avLst/>
            <a:gdLst/>
            <a:ahLst/>
            <a:rect l="0" t="0" r="r" b="b"/>
            <a:pathLst>
              <a:path w="7382" h="54">
                <a:moveTo>
                  <a:pt x="0" y="0"/>
                </a:moveTo>
                <a:lnTo>
                  <a:pt x="7382" y="0"/>
                </a:lnTo>
                <a:lnTo>
                  <a:pt x="738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456840" y="1971360"/>
            <a:ext cx="1915200" cy="10080"/>
          </a:xfrm>
          <a:custGeom>
            <a:avLst/>
            <a:gdLst/>
            <a:ahLst/>
            <a:rect l="0" t="0" r="r" b="b"/>
            <a:pathLst>
              <a:path w="5320" h="28">
                <a:moveTo>
                  <a:pt x="0" y="0"/>
                </a:moveTo>
                <a:lnTo>
                  <a:pt x="5320" y="0"/>
                </a:lnTo>
                <a:lnTo>
                  <a:pt x="5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2371680" y="1971360"/>
            <a:ext cx="2657520" cy="10080"/>
          </a:xfrm>
          <a:custGeom>
            <a:avLst/>
            <a:gdLst/>
            <a:ahLst/>
            <a:rect l="0" t="0" r="r" b="b"/>
            <a:pathLst>
              <a:path w="7382" h="28">
                <a:moveTo>
                  <a:pt x="0" y="0"/>
                </a:moveTo>
                <a:lnTo>
                  <a:pt x="7382" y="0"/>
                </a:lnTo>
                <a:lnTo>
                  <a:pt x="73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56840" y="2485800"/>
            <a:ext cx="1915200" cy="10080"/>
          </a:xfrm>
          <a:custGeom>
            <a:avLst/>
            <a:gdLst/>
            <a:ahLst/>
            <a:rect l="0" t="0" r="r" b="b"/>
            <a:pathLst>
              <a:path w="5320" h="28">
                <a:moveTo>
                  <a:pt x="0" y="0"/>
                </a:moveTo>
                <a:lnTo>
                  <a:pt x="5320" y="0"/>
                </a:lnTo>
                <a:lnTo>
                  <a:pt x="5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371680" y="2485800"/>
            <a:ext cx="2657520" cy="10080"/>
          </a:xfrm>
          <a:custGeom>
            <a:avLst/>
            <a:gdLst/>
            <a:ahLst/>
            <a:rect l="0" t="0" r="r" b="b"/>
            <a:pathLst>
              <a:path w="7382" h="28">
                <a:moveTo>
                  <a:pt x="0" y="0"/>
                </a:moveTo>
                <a:lnTo>
                  <a:pt x="7382" y="0"/>
                </a:lnTo>
                <a:lnTo>
                  <a:pt x="73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456840" y="2809800"/>
            <a:ext cx="1915200" cy="9720"/>
          </a:xfrm>
          <a:custGeom>
            <a:avLst/>
            <a:gdLst/>
            <a:ahLst/>
            <a:rect l="0" t="0" r="r" b="b"/>
            <a:pathLst>
              <a:path w="5320" h="27">
                <a:moveTo>
                  <a:pt x="0" y="0"/>
                </a:moveTo>
                <a:lnTo>
                  <a:pt x="5320" y="0"/>
                </a:lnTo>
                <a:lnTo>
                  <a:pt x="5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371680" y="2809800"/>
            <a:ext cx="2657520" cy="9720"/>
          </a:xfrm>
          <a:custGeom>
            <a:avLst/>
            <a:gdLst/>
            <a:ahLst/>
            <a:rect l="0" t="0" r="r" b="b"/>
            <a:pathLst>
              <a:path w="7382" h="27">
                <a:moveTo>
                  <a:pt x="0" y="0"/>
                </a:moveTo>
                <a:lnTo>
                  <a:pt x="7382" y="0"/>
                </a:lnTo>
                <a:lnTo>
                  <a:pt x="73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456840" y="3133440"/>
            <a:ext cx="1915200" cy="10080"/>
          </a:xfrm>
          <a:custGeom>
            <a:avLst/>
            <a:gdLst/>
            <a:ahLst/>
            <a:rect l="0" t="0" r="r" b="b"/>
            <a:pathLst>
              <a:path w="5320" h="28">
                <a:moveTo>
                  <a:pt x="0" y="0"/>
                </a:moveTo>
                <a:lnTo>
                  <a:pt x="5320" y="0"/>
                </a:lnTo>
                <a:lnTo>
                  <a:pt x="5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2371680" y="3133440"/>
            <a:ext cx="2657520" cy="10080"/>
          </a:xfrm>
          <a:custGeom>
            <a:avLst/>
            <a:gdLst/>
            <a:ahLst/>
            <a:rect l="0" t="0" r="r" b="b"/>
            <a:pathLst>
              <a:path w="7382" h="28">
                <a:moveTo>
                  <a:pt x="0" y="0"/>
                </a:moveTo>
                <a:lnTo>
                  <a:pt x="7382" y="0"/>
                </a:lnTo>
                <a:lnTo>
                  <a:pt x="73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56840" y="3647880"/>
            <a:ext cx="1915200" cy="9720"/>
          </a:xfrm>
          <a:custGeom>
            <a:avLst/>
            <a:gdLst/>
            <a:ahLst/>
            <a:rect l="0" t="0" r="r" b="b"/>
            <a:pathLst>
              <a:path w="5320" h="27">
                <a:moveTo>
                  <a:pt x="0" y="0"/>
                </a:moveTo>
                <a:lnTo>
                  <a:pt x="5320" y="0"/>
                </a:lnTo>
                <a:lnTo>
                  <a:pt x="5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2371680" y="3647880"/>
            <a:ext cx="2657520" cy="9720"/>
          </a:xfrm>
          <a:custGeom>
            <a:avLst/>
            <a:gdLst/>
            <a:ahLst/>
            <a:rect l="0" t="0" r="r" b="b"/>
            <a:pathLst>
              <a:path w="7382" h="27">
                <a:moveTo>
                  <a:pt x="0" y="0"/>
                </a:moveTo>
                <a:lnTo>
                  <a:pt x="7382" y="0"/>
                </a:lnTo>
                <a:lnTo>
                  <a:pt x="73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456840" y="3971880"/>
            <a:ext cx="1915200" cy="9720"/>
          </a:xfrm>
          <a:custGeom>
            <a:avLst/>
            <a:gdLst/>
            <a:ahLst/>
            <a:rect l="0" t="0" r="r" b="b"/>
            <a:pathLst>
              <a:path w="5320" h="27">
                <a:moveTo>
                  <a:pt x="0" y="0"/>
                </a:moveTo>
                <a:lnTo>
                  <a:pt x="5320" y="0"/>
                </a:lnTo>
                <a:lnTo>
                  <a:pt x="5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2371680" y="3971880"/>
            <a:ext cx="2657520" cy="9720"/>
          </a:xfrm>
          <a:custGeom>
            <a:avLst/>
            <a:gdLst/>
            <a:ahLst/>
            <a:rect l="0" t="0" r="r" b="b"/>
            <a:pathLst>
              <a:path w="7382" h="27">
                <a:moveTo>
                  <a:pt x="0" y="0"/>
                </a:moveTo>
                <a:lnTo>
                  <a:pt x="7382" y="0"/>
                </a:lnTo>
                <a:lnTo>
                  <a:pt x="738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56840" y="4485960"/>
            <a:ext cx="1915200" cy="10080"/>
          </a:xfrm>
          <a:custGeom>
            <a:avLst/>
            <a:gdLst/>
            <a:ahLst/>
            <a:rect l="0" t="0" r="r" b="b"/>
            <a:pathLst>
              <a:path w="5320" h="28">
                <a:moveTo>
                  <a:pt x="0" y="0"/>
                </a:moveTo>
                <a:lnTo>
                  <a:pt x="5320" y="0"/>
                </a:lnTo>
                <a:lnTo>
                  <a:pt x="5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2371680" y="4485960"/>
            <a:ext cx="2657520" cy="10080"/>
          </a:xfrm>
          <a:custGeom>
            <a:avLst/>
            <a:gdLst/>
            <a:ahLst/>
            <a:rect l="0" t="0" r="r" b="b"/>
            <a:pathLst>
              <a:path w="7382" h="28">
                <a:moveTo>
                  <a:pt x="0" y="0"/>
                </a:moveTo>
                <a:lnTo>
                  <a:pt x="7382" y="0"/>
                </a:lnTo>
                <a:lnTo>
                  <a:pt x="738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439920" y="758160"/>
            <a:ext cx="10197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Informatiemodel: zeven begrippen delen de keten in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563760" y="143172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2473920" y="143172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BEANTWOORDT DE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63760" y="1741320"/>
            <a:ext cx="1387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Kwaliﬁcatiekader mbo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2473920" y="1741320"/>
            <a:ext cx="1462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is normatief geldig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63760" y="2065320"/>
            <a:ext cx="1442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Onderwijskundig kader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63760" y="2255760"/>
            <a:ext cx="56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instelling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473920" y="2065320"/>
            <a:ext cx="2524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moet de student kennen en kunnen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563760" y="2579760"/>
            <a:ext cx="1332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2473920" y="2579760"/>
            <a:ext cx="1588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wordt georganiseerd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63760" y="2903400"/>
            <a:ext cx="1090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Onderwijsaanbod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2473920" y="2903400"/>
            <a:ext cx="2530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Wanneer, met hoeveel 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63760" y="3227400"/>
            <a:ext cx="1325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Onderwijsverbintenis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473920" y="3227400"/>
            <a:ext cx="2544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heef t een student met dat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2473920" y="3417840"/>
            <a:ext cx="46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aanbod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63760" y="3741480"/>
            <a:ext cx="1181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Onderwijsresultaat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2473920" y="3741480"/>
            <a:ext cx="1098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is er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63760" y="4065480"/>
            <a:ext cx="1166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Resultaatstructuur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2473920" y="4065480"/>
            <a:ext cx="2556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Hoe telt dat op tot een uitspraak over de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1" name="" descr=""/>
          <p:cNvPicPr/>
          <p:nvPr/>
        </p:nvPicPr>
        <p:blipFill>
          <a:blip r:embed="rId2"/>
          <a:stretch/>
        </p:blipFill>
        <p:spPr>
          <a:xfrm>
            <a:off x="5219640" y="1343160"/>
            <a:ext cx="3657240" cy="2723760"/>
          </a:xfrm>
          <a:prstGeom prst="rect">
            <a:avLst/>
          </a:prstGeom>
          <a:ln w="0">
            <a:noFill/>
          </a:ln>
        </p:spPr>
      </p:pic>
      <p:sp>
        <p:nvSpPr>
          <p:cNvPr id="242" name=""/>
          <p:cNvSpPr txBox="1"/>
          <p:nvPr/>
        </p:nvSpPr>
        <p:spPr>
          <a:xfrm>
            <a:off x="2473920" y="4255920"/>
            <a:ext cx="704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kwaliﬁcatie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5216040" y="4113360"/>
            <a:ext cx="3728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conceptueel (MIM 1 en 2), gemapt op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5216040" y="4285080"/>
            <a:ext cx="555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OEAPI v6.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53" name=""/>
          <p:cNvSpPr txBox="1"/>
          <p:nvPr/>
        </p:nvSpPr>
        <p:spPr>
          <a:xfrm>
            <a:off x="439920" y="138960"/>
            <a:ext cx="9873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Voorbeelduitwerking: Jochem stap voor stap in het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54" name="" descr=""/>
          <p:cNvPicPr/>
          <p:nvPr/>
        </p:nvPicPr>
        <p:blipFill>
          <a:blip r:embed="rId2"/>
          <a:stretch/>
        </p:blipFill>
        <p:spPr>
          <a:xfrm>
            <a:off x="1514520" y="1085760"/>
            <a:ext cx="2619000" cy="3657240"/>
          </a:xfrm>
          <a:prstGeom prst="rect">
            <a:avLst/>
          </a:prstGeom>
          <a:ln w="0">
            <a:noFill/>
          </a:ln>
        </p:spPr>
      </p:pic>
      <p:sp>
        <p:nvSpPr>
          <p:cNvPr id="255" name=""/>
          <p:cNvSpPr txBox="1"/>
          <p:nvPr/>
        </p:nvSpPr>
        <p:spPr>
          <a:xfrm>
            <a:off x="439920" y="519840"/>
            <a:ext cx="118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model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457200" y="4789800"/>
            <a:ext cx="4857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Drie beelden uit fase 1: de leeruitkomst uit het dossier, in CompetentNL-skills, en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371920" y="4105080"/>
            <a:ext cx="3505680" cy="543240"/>
          </a:xfrm>
          <a:custGeom>
            <a:avLst/>
            <a:gdLst/>
            <a:ahLst/>
            <a:rect l="0" t="0" r="r" b="b"/>
            <a:pathLst>
              <a:path w="9738" h="1509">
                <a:moveTo>
                  <a:pt x="0" y="0"/>
                </a:moveTo>
                <a:lnTo>
                  <a:pt x="9738" y="0"/>
                </a:lnTo>
                <a:lnTo>
                  <a:pt x="973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5371920" y="4105080"/>
            <a:ext cx="3505680" cy="38520"/>
          </a:xfrm>
          <a:custGeom>
            <a:avLst/>
            <a:gdLst/>
            <a:ahLst/>
            <a:rect l="0" t="0" r="r" b="b"/>
            <a:pathLst>
              <a:path w="9738" h="107">
                <a:moveTo>
                  <a:pt x="0" y="0"/>
                </a:moveTo>
                <a:lnTo>
                  <a:pt x="9738" y="0"/>
                </a:lnTo>
                <a:lnTo>
                  <a:pt x="973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5371920" y="4638600"/>
            <a:ext cx="3505680" cy="9720"/>
          </a:xfrm>
          <a:custGeom>
            <a:avLst/>
            <a:gdLst/>
            <a:ahLst/>
            <a:rect l="0" t="0" r="r" b="b"/>
            <a:pathLst>
              <a:path w="9738" h="27">
                <a:moveTo>
                  <a:pt x="0" y="0"/>
                </a:moveTo>
                <a:lnTo>
                  <a:pt x="9738" y="0"/>
                </a:lnTo>
                <a:lnTo>
                  <a:pt x="97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8867520" y="41050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106"/>
                </a:moveTo>
                <a:lnTo>
                  <a:pt x="0" y="1509"/>
                </a:lnTo>
                <a:lnTo>
                  <a:pt x="28" y="1509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5371920" y="4105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0" y="1509"/>
                </a:lnTo>
                <a:lnTo>
                  <a:pt x="27" y="1509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5362560" y="12096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457200" y="4961160"/>
            <a:ext cx="2184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toetsonderdelen die ernaar verwijzen.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5554080" y="1155600"/>
            <a:ext cx="36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Per processtap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van de instellingsreis: wat ontstaat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5554080" y="1413000"/>
            <a:ext cx="3228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 het informatiemodel en wat stroomt tussen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362560" y="20095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5554080" y="1660680"/>
            <a:ext cx="2563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systemen, met Jochems waarde erin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554080" y="1955880"/>
            <a:ext cx="3734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De leeruitkomst is de sleutel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speciﬁcaties, toets-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5554080" y="2212920"/>
            <a:ext cx="3335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examenonderdelen en de resultaatstructuur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5554080" y="2460600"/>
            <a:ext cx="3629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verwijzen ernaar; de instelling vult haar in (waar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5362560" y="30668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5554080" y="2718000"/>
            <a:ext cx="2030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hoe de student het laat zien)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5554080" y="3013200"/>
            <a:ext cx="3053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CompetentNL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als verdieping van dezelfde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5362560" y="3619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5554080" y="3270240"/>
            <a:ext cx="3318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leeruitkomst: vaardigheden en kennisgebieden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554080" y="3565440"/>
            <a:ext cx="3525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Gecontroleerd tegen de plaat; wat buiten de plaat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554080" y="3822840"/>
            <a:ext cx="2745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valt wordt een vraag aan de kerngroep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503320" y="4239720"/>
            <a:ext cx="3431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techniek, 30 september: het voorbeeld naast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5503320" y="4411080"/>
            <a:ext cx="148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het eigen model leggen.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88" name=""/>
          <p:cNvSpPr/>
          <p:nvPr/>
        </p:nvSpPr>
        <p:spPr>
          <a:xfrm>
            <a:off x="456840" y="704520"/>
            <a:ext cx="2200680" cy="305280"/>
          </a:xfrm>
          <a:custGeom>
            <a:avLst/>
            <a:gdLst/>
            <a:ahLst/>
            <a:rect l="0" t="0" r="r" b="b"/>
            <a:pathLst>
              <a:path w="6113" h="848">
                <a:moveTo>
                  <a:pt x="0" y="0"/>
                </a:moveTo>
                <a:lnTo>
                  <a:pt x="6113" y="0"/>
                </a:lnTo>
                <a:lnTo>
                  <a:pt x="611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657160" y="704520"/>
            <a:ext cx="3124800" cy="305280"/>
          </a:xfrm>
          <a:custGeom>
            <a:avLst/>
            <a:gdLst/>
            <a:ahLst/>
            <a:rect l="0" t="0" r="r" b="b"/>
            <a:pathLst>
              <a:path w="8680" h="848">
                <a:moveTo>
                  <a:pt x="0" y="0"/>
                </a:moveTo>
                <a:lnTo>
                  <a:pt x="8680" y="0"/>
                </a:lnTo>
                <a:lnTo>
                  <a:pt x="868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5781600" y="704520"/>
            <a:ext cx="3096000" cy="305280"/>
          </a:xfrm>
          <a:custGeom>
            <a:avLst/>
            <a:gdLst/>
            <a:ahLst/>
            <a:rect l="0" t="0" r="r" b="b"/>
            <a:pathLst>
              <a:path w="8600" h="848">
                <a:moveTo>
                  <a:pt x="0" y="0"/>
                </a:moveTo>
                <a:lnTo>
                  <a:pt x="8600" y="0"/>
                </a:lnTo>
                <a:lnTo>
                  <a:pt x="8600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456840" y="1000080"/>
            <a:ext cx="2200680" cy="19440"/>
          </a:xfrm>
          <a:custGeom>
            <a:avLst/>
            <a:gdLst/>
            <a:ahLst/>
            <a:rect l="0" t="0" r="r" b="b"/>
            <a:pathLst>
              <a:path w="6113" h="54">
                <a:moveTo>
                  <a:pt x="0" y="0"/>
                </a:moveTo>
                <a:lnTo>
                  <a:pt x="6113" y="0"/>
                </a:lnTo>
                <a:lnTo>
                  <a:pt x="611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2657160" y="1000080"/>
            <a:ext cx="3124800" cy="19440"/>
          </a:xfrm>
          <a:custGeom>
            <a:avLst/>
            <a:gdLst/>
            <a:ahLst/>
            <a:rect l="0" t="0" r="r" b="b"/>
            <a:pathLst>
              <a:path w="8680" h="54">
                <a:moveTo>
                  <a:pt x="0" y="0"/>
                </a:moveTo>
                <a:lnTo>
                  <a:pt x="8680" y="0"/>
                </a:lnTo>
                <a:lnTo>
                  <a:pt x="86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5781600" y="1000080"/>
            <a:ext cx="3096000" cy="19440"/>
          </a:xfrm>
          <a:custGeom>
            <a:avLst/>
            <a:gdLst/>
            <a:ahLst/>
            <a:rect l="0" t="0" r="r" b="b"/>
            <a:pathLst>
              <a:path w="8600" h="54">
                <a:moveTo>
                  <a:pt x="0" y="0"/>
                </a:moveTo>
                <a:lnTo>
                  <a:pt x="8600" y="0"/>
                </a:lnTo>
                <a:lnTo>
                  <a:pt x="860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456840" y="170496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2657160" y="170496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5781600" y="1704960"/>
            <a:ext cx="3096000" cy="9720"/>
          </a:xfrm>
          <a:custGeom>
            <a:avLst/>
            <a:gdLst/>
            <a:ahLst/>
            <a:rect l="0" t="0" r="r" b="b"/>
            <a:pathLst>
              <a:path w="8600" h="27">
                <a:moveTo>
                  <a:pt x="0" y="0"/>
                </a:moveTo>
                <a:lnTo>
                  <a:pt x="8600" y="0"/>
                </a:lnTo>
                <a:lnTo>
                  <a:pt x="8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456840" y="24001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2657160" y="240012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5781600" y="2400120"/>
            <a:ext cx="3096000" cy="9720"/>
          </a:xfrm>
          <a:custGeom>
            <a:avLst/>
            <a:gdLst/>
            <a:ahLst/>
            <a:rect l="0" t="0" r="r" b="b"/>
            <a:pathLst>
              <a:path w="8600" h="27">
                <a:moveTo>
                  <a:pt x="0" y="0"/>
                </a:moveTo>
                <a:lnTo>
                  <a:pt x="8600" y="0"/>
                </a:lnTo>
                <a:lnTo>
                  <a:pt x="8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456840" y="30859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2657160" y="308592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5781600" y="3085920"/>
            <a:ext cx="3096000" cy="9720"/>
          </a:xfrm>
          <a:custGeom>
            <a:avLst/>
            <a:gdLst/>
            <a:ahLst/>
            <a:rect l="0" t="0" r="r" b="b"/>
            <a:pathLst>
              <a:path w="8600" h="27">
                <a:moveTo>
                  <a:pt x="0" y="0"/>
                </a:moveTo>
                <a:lnTo>
                  <a:pt x="8600" y="0"/>
                </a:lnTo>
                <a:lnTo>
                  <a:pt x="8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456840" y="360036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2657160" y="360036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5781600" y="3600360"/>
            <a:ext cx="3096000" cy="9720"/>
          </a:xfrm>
          <a:custGeom>
            <a:avLst/>
            <a:gdLst/>
            <a:ahLst/>
            <a:rect l="0" t="0" r="r" b="b"/>
            <a:pathLst>
              <a:path w="8600" h="27">
                <a:moveTo>
                  <a:pt x="0" y="0"/>
                </a:moveTo>
                <a:lnTo>
                  <a:pt x="8600" y="0"/>
                </a:lnTo>
                <a:lnTo>
                  <a:pt x="8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456840" y="410508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657160" y="410508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5781600" y="4105080"/>
            <a:ext cx="3096000" cy="9720"/>
          </a:xfrm>
          <a:custGeom>
            <a:avLst/>
            <a:gdLst/>
            <a:ahLst/>
            <a:rect l="0" t="0" r="r" b="b"/>
            <a:pathLst>
              <a:path w="8600" h="27">
                <a:moveTo>
                  <a:pt x="0" y="0"/>
                </a:moveTo>
                <a:lnTo>
                  <a:pt x="8600" y="0"/>
                </a:lnTo>
                <a:lnTo>
                  <a:pt x="8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439920" y="100800"/>
            <a:ext cx="7616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OKx andere ontwikkelingen raakt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563760" y="784080"/>
            <a:ext cx="95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2759760" y="784080"/>
            <a:ext cx="1265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RAAKVLAK MET OKX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5884920" y="784080"/>
            <a:ext cx="846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WIJ ZIEN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563760" y="1100520"/>
            <a:ext cx="777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AII spoor 3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2759760" y="1100520"/>
            <a:ext cx="31874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aanmelden, intekenen, inschrijven; het ontsluiten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2759760" y="1290960"/>
            <a:ext cx="29725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van aanmeldbaar aanbod; de aanmelding met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2759760" y="1472040"/>
            <a:ext cx="26265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verbintenis terug naar de kernregistratie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5884920" y="1100520"/>
            <a:ext cx="32331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wij spreken over intekenen op een speciﬁcatie, AII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884920" y="1290960"/>
            <a:ext cx="2850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hanteert aanmelden, intekenen, inschrijven: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5884920" y="1472040"/>
            <a:ext cx="19620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begrippen naast elkaar leggen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563760" y="1795680"/>
            <a:ext cx="893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eduXchange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759760" y="1795680"/>
            <a:ext cx="32817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keuzedeel, aanbod en verbintenis over instellingen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2759760" y="1986120"/>
            <a:ext cx="12229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heen; de catalogus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5884920" y="1795680"/>
            <a:ext cx="31766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OKx begint binnen de instelling en federatie is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5884920" y="1986120"/>
            <a:ext cx="31568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volgende stap; het informatiemodel als gedeelde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5884920" y="2167200"/>
            <a:ext cx="20779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taal voor keuzedeel en resultaat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563760" y="2491200"/>
            <a:ext cx="20901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Ontsluiten onderwijsaanbod,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63760" y="2681640"/>
            <a:ext cx="21236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functioneel gebied Onderwijs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563760" y="2862360"/>
            <a:ext cx="7214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Catalogus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2759760" y="2491200"/>
            <a:ext cx="31568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dezelfde deﬁnities en gegevenssets: speciﬁcatie,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2759760" y="2681640"/>
            <a:ext cx="24865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aanbod in fasen van rijpheid, OEAPI v6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5884920" y="2491200"/>
            <a:ext cx="31309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een begrippenlijst en een informatiemodel delen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563760" y="3186360"/>
            <a:ext cx="20232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EduID, identity provisioning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2759760" y="3186360"/>
            <a:ext cx="26798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student als persoon en deelnemer van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2759760" y="3376800"/>
            <a:ext cx="20458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aanmelding tot LMS en toegang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5884920" y="3186360"/>
            <a:ext cx="31600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welke voorziening is leidend, en wat gaat er over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5884920" y="3376800"/>
            <a:ext cx="1293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OKx-koppelingen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563760" y="3700800"/>
            <a:ext cx="255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RIO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2759760" y="3700800"/>
            <a:ext cx="30182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verantwoording van studievoortgang vanuit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2759760" y="3881880"/>
            <a:ext cx="9500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kernregistratie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456840" y="4209840"/>
            <a:ext cx="4115160" cy="752760"/>
          </a:xfrm>
          <a:custGeom>
            <a:avLst/>
            <a:gdLst/>
            <a:ahLst/>
            <a:rect l="0" t="0" r="r" b="b"/>
            <a:pathLst>
              <a:path w="11431" h="2091">
                <a:moveTo>
                  <a:pt x="0" y="0"/>
                </a:moveTo>
                <a:lnTo>
                  <a:pt x="11431" y="0"/>
                </a:lnTo>
                <a:lnTo>
                  <a:pt x="11431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456840" y="42098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56840" y="495288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562280" y="420984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56840" y="420984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5884920" y="3700800"/>
            <a:ext cx="29800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resultaatstructuur ook in de kernregistratie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603720" y="4348440"/>
            <a:ext cx="43243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OKx gaat over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de koppelingen tussen de componenten binnen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603720" y="4529520"/>
            <a:ext cx="42876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instelling, hun informatiemodel en hun eisen; kiezen tot en met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4762440" y="4209840"/>
            <a:ext cx="4115160" cy="943200"/>
          </a:xfrm>
          <a:custGeom>
            <a:avLst/>
            <a:gdLst/>
            <a:ahLst/>
            <a:rect l="0" t="0" r="r" b="b"/>
            <a:pathLst>
              <a:path w="11431" h="2620">
                <a:moveTo>
                  <a:pt x="0" y="0"/>
                </a:moveTo>
                <a:lnTo>
                  <a:pt x="11431" y="0"/>
                </a:lnTo>
                <a:lnTo>
                  <a:pt x="11431" y="2620"/>
                </a:lnTo>
                <a:lnTo>
                  <a:pt x="0" y="26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4762440" y="420984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4762440" y="5143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8867520" y="4209840"/>
            <a:ext cx="10080" cy="943200"/>
          </a:xfrm>
          <a:custGeom>
            <a:avLst/>
            <a:gdLst/>
            <a:ahLst/>
            <a:rect l="0" t="0" r="r" b="b"/>
            <a:pathLst>
              <a:path w="28" h="2620">
                <a:moveTo>
                  <a:pt x="0" y="107"/>
                </a:moveTo>
                <a:lnTo>
                  <a:pt x="0" y="2620"/>
                </a:lnTo>
                <a:lnTo>
                  <a:pt x="28" y="2620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4762440" y="4209840"/>
            <a:ext cx="9720" cy="943200"/>
          </a:xfrm>
          <a:custGeom>
            <a:avLst/>
            <a:gdLst/>
            <a:ahLst/>
            <a:rect l="0" t="0" r="r" b="b"/>
            <a:pathLst>
              <a:path w="27" h="2620">
                <a:moveTo>
                  <a:pt x="0" y="0"/>
                </a:moveTo>
                <a:lnTo>
                  <a:pt x="0" y="2620"/>
                </a:lnTo>
                <a:lnTo>
                  <a:pt x="27" y="2620"/>
                </a:lnTo>
                <a:lnTo>
                  <a:pt x="27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603720" y="4719960"/>
            <a:ext cx="25884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leeractiviteit; leeruitkomsten als sleutel.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4905360" y="4348440"/>
            <a:ext cx="3867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3d68ec"/>
                </a:solidFill>
                <a:latin typeface="Arial"/>
                <a:ea typeface="Arial"/>
              </a:rPr>
              <a:t>De grens:</a:t>
            </a:r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 de functionaliteit binnen een applicatie is van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4905360" y="4529520"/>
            <a:ext cx="43214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leverancier, alles onder de leeractiviteit en de didactiek zijn van 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4905360" y="4719960"/>
            <a:ext cx="409284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instelling, roosteren is van het roostersysteem, en de landelijke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4905360" y="4901040"/>
            <a:ext cx="25200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voorzieningen zijn van hun eigen pijler.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66" name=""/>
          <p:cNvSpPr txBox="1"/>
          <p:nvPr/>
        </p:nvSpPr>
        <p:spPr>
          <a:xfrm>
            <a:off x="439920" y="253440"/>
            <a:ext cx="894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wij elkaar raken: aanmelden, intekenen,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439920" y="634320"/>
            <a:ext cx="2117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inschrijven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1800000" y="1228680"/>
            <a:ext cx="2048400" cy="181080"/>
          </a:xfrm>
          <a:custGeom>
            <a:avLst/>
            <a:gdLst/>
            <a:ahLst/>
            <a:rect l="0" t="0" r="r" b="b"/>
            <a:pathLst>
              <a:path w="5690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5584" y="0"/>
                </a:lnTo>
                <a:cubicBezTo>
                  <a:pt x="5598" y="0"/>
                  <a:pt x="5611" y="2"/>
                  <a:pt x="5624" y="8"/>
                </a:cubicBezTo>
                <a:cubicBezTo>
                  <a:pt x="5637" y="13"/>
                  <a:pt x="5649" y="21"/>
                  <a:pt x="5659" y="31"/>
                </a:cubicBezTo>
                <a:cubicBezTo>
                  <a:pt x="5669" y="41"/>
                  <a:pt x="5676" y="52"/>
                  <a:pt x="5682" y="65"/>
                </a:cubicBezTo>
                <a:cubicBezTo>
                  <a:pt x="5687" y="78"/>
                  <a:pt x="5690" y="91"/>
                  <a:pt x="5690" y="105"/>
                </a:cubicBezTo>
                <a:lnTo>
                  <a:pt x="5690" y="397"/>
                </a:lnTo>
                <a:cubicBezTo>
                  <a:pt x="5690" y="412"/>
                  <a:pt x="5687" y="425"/>
                  <a:pt x="5682" y="438"/>
                </a:cubicBezTo>
                <a:cubicBezTo>
                  <a:pt x="5676" y="451"/>
                  <a:pt x="5669" y="462"/>
                  <a:pt x="5659" y="472"/>
                </a:cubicBezTo>
                <a:cubicBezTo>
                  <a:pt x="5649" y="482"/>
                  <a:pt x="5637" y="490"/>
                  <a:pt x="5624" y="495"/>
                </a:cubicBezTo>
                <a:cubicBezTo>
                  <a:pt x="5611" y="501"/>
                  <a:pt x="5598" y="503"/>
                  <a:pt x="5584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4" y="451"/>
                  <a:pt x="8" y="438"/>
                </a:cubicBezTo>
                <a:cubicBezTo>
                  <a:pt x="3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457200" y="1225440"/>
            <a:ext cx="1476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OKx onderscheidt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1857240" y="1238040"/>
            <a:ext cx="194220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Intekening op specificatie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4105080" y="1228680"/>
            <a:ext cx="857520" cy="181080"/>
          </a:xfrm>
          <a:custGeom>
            <a:avLst/>
            <a:gdLst/>
            <a:ahLst/>
            <a:rect l="0" t="0" r="r" b="b"/>
            <a:pathLst>
              <a:path w="2382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2276" y="0"/>
                </a:lnTo>
                <a:cubicBezTo>
                  <a:pt x="2290" y="0"/>
                  <a:pt x="2304" y="2"/>
                  <a:pt x="2317" y="8"/>
                </a:cubicBezTo>
                <a:cubicBezTo>
                  <a:pt x="2330" y="13"/>
                  <a:pt x="2341" y="21"/>
                  <a:pt x="2351" y="31"/>
                </a:cubicBezTo>
                <a:cubicBezTo>
                  <a:pt x="2361" y="41"/>
                  <a:pt x="2369" y="52"/>
                  <a:pt x="2374" y="65"/>
                </a:cubicBezTo>
                <a:cubicBezTo>
                  <a:pt x="2380" y="78"/>
                  <a:pt x="2382" y="91"/>
                  <a:pt x="2382" y="105"/>
                </a:cubicBezTo>
                <a:lnTo>
                  <a:pt x="2382" y="397"/>
                </a:lnTo>
                <a:cubicBezTo>
                  <a:pt x="2382" y="412"/>
                  <a:pt x="2380" y="425"/>
                  <a:pt x="2374" y="438"/>
                </a:cubicBezTo>
                <a:cubicBezTo>
                  <a:pt x="2369" y="451"/>
                  <a:pt x="2361" y="462"/>
                  <a:pt x="2351" y="472"/>
                </a:cubicBezTo>
                <a:cubicBezTo>
                  <a:pt x="2341" y="482"/>
                  <a:pt x="2330" y="490"/>
                  <a:pt x="2317" y="495"/>
                </a:cubicBezTo>
                <a:cubicBezTo>
                  <a:pt x="2304" y="501"/>
                  <a:pt x="2290" y="503"/>
                  <a:pt x="2276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3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3845880" y="1225440"/>
            <a:ext cx="303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4160160" y="1238040"/>
            <a:ext cx="74736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Aanmelding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5362560" y="1228680"/>
            <a:ext cx="1000440" cy="181080"/>
          </a:xfrm>
          <a:custGeom>
            <a:avLst/>
            <a:gdLst/>
            <a:ahLst/>
            <a:rect l="0" t="0" r="r" b="b"/>
            <a:pathLst>
              <a:path w="2779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673" y="0"/>
                </a:lnTo>
                <a:cubicBezTo>
                  <a:pt x="2687" y="0"/>
                  <a:pt x="2700" y="2"/>
                  <a:pt x="2713" y="8"/>
                </a:cubicBezTo>
                <a:cubicBezTo>
                  <a:pt x="2726" y="13"/>
                  <a:pt x="2738" y="21"/>
                  <a:pt x="2748" y="31"/>
                </a:cubicBezTo>
                <a:cubicBezTo>
                  <a:pt x="2758" y="41"/>
                  <a:pt x="2765" y="52"/>
                  <a:pt x="2771" y="65"/>
                </a:cubicBezTo>
                <a:cubicBezTo>
                  <a:pt x="2776" y="78"/>
                  <a:pt x="2779" y="91"/>
                  <a:pt x="2779" y="105"/>
                </a:cubicBezTo>
                <a:lnTo>
                  <a:pt x="2779" y="397"/>
                </a:lnTo>
                <a:cubicBezTo>
                  <a:pt x="2779" y="412"/>
                  <a:pt x="2776" y="425"/>
                  <a:pt x="2771" y="438"/>
                </a:cubicBezTo>
                <a:cubicBezTo>
                  <a:pt x="2765" y="451"/>
                  <a:pt x="2758" y="462"/>
                  <a:pt x="2748" y="472"/>
                </a:cubicBezTo>
                <a:cubicBezTo>
                  <a:pt x="2738" y="482"/>
                  <a:pt x="2726" y="490"/>
                  <a:pt x="2713" y="495"/>
                </a:cubicBezTo>
                <a:cubicBezTo>
                  <a:pt x="2700" y="501"/>
                  <a:pt x="2687" y="503"/>
                  <a:pt x="2673" y="503"/>
                </a:cubicBezTo>
                <a:lnTo>
                  <a:pt x="105" y="503"/>
                </a:lnTo>
                <a:cubicBezTo>
                  <a:pt x="91" y="503"/>
                  <a:pt x="78" y="501"/>
                  <a:pt x="65" y="495"/>
                </a:cubicBezTo>
                <a:cubicBezTo>
                  <a:pt x="52" y="490"/>
                  <a:pt x="40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2" y="425"/>
                  <a:pt x="0" y="412"/>
                  <a:pt x="0" y="397"/>
                </a:cubicBezTo>
                <a:close/>
              </a:path>
            </a:pathLst>
          </a:custGeom>
          <a:solidFill>
            <a:srgbClr val="f5f5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4960440" y="1225440"/>
            <a:ext cx="474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de 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5417640" y="1238040"/>
            <a:ext cx="89676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70" spc="-1" strike="noStrike">
                <a:solidFill>
                  <a:srgbClr val="3d68ec"/>
                </a:solidFill>
                <a:latin typeface="DejaVuSansMono"/>
                <a:ea typeface="DejaVuSansMono"/>
              </a:rPr>
              <a:t>Inschrijving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6366240" y="1225440"/>
            <a:ext cx="240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, en laat aanbod rijpen in fasen. AII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546840" y="215208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1"/>
                  <a:pt x="4605" y="16"/>
                </a:cubicBezTo>
                <a:cubicBezTo>
                  <a:pt x="4617" y="21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1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4"/>
                </a:cubicBezTo>
                <a:cubicBezTo>
                  <a:pt x="4687" y="1864"/>
                  <a:pt x="4679" y="1875"/>
                  <a:pt x="4670" y="1884"/>
                </a:cubicBezTo>
                <a:cubicBezTo>
                  <a:pt x="4661" y="1893"/>
                  <a:pt x="4651" y="1901"/>
                  <a:pt x="4640" y="1909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9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5"/>
                  <a:pt x="41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546840" y="215208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1"/>
                  <a:pt x="4605" y="16"/>
                </a:cubicBezTo>
                <a:cubicBezTo>
                  <a:pt x="4617" y="21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1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4"/>
                </a:cubicBezTo>
                <a:cubicBezTo>
                  <a:pt x="4687" y="1864"/>
                  <a:pt x="4679" y="1875"/>
                  <a:pt x="4670" y="1884"/>
                </a:cubicBezTo>
                <a:cubicBezTo>
                  <a:pt x="4661" y="1893"/>
                  <a:pt x="4651" y="1901"/>
                  <a:pt x="4640" y="1909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9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5"/>
                  <a:pt x="41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7a97f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457200" y="1444320"/>
            <a:ext cx="6589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hanteert de volgorde aanmelden, intekenen, inschrijven. Wat verstaan wij elk onder intekenen?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1031040" y="2251080"/>
            <a:ext cx="82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1107360" y="245520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het ontwerp,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1045440" y="2589480"/>
            <a:ext cx="801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los van wanneer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2607120" y="2080440"/>
            <a:ext cx="6090480" cy="0"/>
          </a:xfrm>
          <a:prstGeom prst="line">
            <a:avLst/>
          </a:prstGeom>
          <a:ln w="8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2607120" y="215208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1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9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5"/>
                  <a:pt x="40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2607120" y="215208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1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9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5"/>
                  <a:pt x="40" y="1864"/>
                  <a:pt x="33" y="1854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4641840" y="1935360"/>
            <a:ext cx="2053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b7280"/>
                </a:solidFill>
                <a:latin typeface="Arial"/>
                <a:ea typeface="Arial"/>
              </a:rPr>
              <a:t>ON DER W IJS AAN BOD,  S TEEDS  R IJPER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3304800" y="2251080"/>
            <a:ext cx="55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Intentie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3047400" y="2455200"/>
            <a:ext cx="1151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we gaan dit aanbieden;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471168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solidFill>
            <a:srgbClr val="b3e8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1168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1"/>
                  <a:pt x="5103" y="16"/>
                </a:cubicBezTo>
                <a:cubicBezTo>
                  <a:pt x="5115" y="21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4"/>
                </a:cubicBezTo>
                <a:cubicBezTo>
                  <a:pt x="5185" y="1864"/>
                  <a:pt x="5176" y="1875"/>
                  <a:pt x="5167" y="1884"/>
                </a:cubicBezTo>
                <a:cubicBezTo>
                  <a:pt x="5158" y="1893"/>
                  <a:pt x="5148" y="1901"/>
                  <a:pt x="5137" y="1909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2909520" y="2589480"/>
            <a:ext cx="1469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gaat door bij voldoende vraag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090400" y="2251080"/>
            <a:ext cx="1337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Grofmazig gepland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5085720" y="2455200"/>
            <a:ext cx="12564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periode en start, gebouw,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6816600" y="215208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7" y="0"/>
                </a:lnTo>
                <a:cubicBezTo>
                  <a:pt x="5040" y="0"/>
                  <a:pt x="5053" y="2"/>
                  <a:pt x="5066" y="4"/>
                </a:cubicBezTo>
                <a:cubicBezTo>
                  <a:pt x="5079" y="7"/>
                  <a:pt x="5091" y="11"/>
                  <a:pt x="5104" y="16"/>
                </a:cubicBezTo>
                <a:cubicBezTo>
                  <a:pt x="5116" y="21"/>
                  <a:pt x="5127" y="27"/>
                  <a:pt x="5138" y="34"/>
                </a:cubicBezTo>
                <a:cubicBezTo>
                  <a:pt x="5149" y="41"/>
                  <a:pt x="5159" y="49"/>
                  <a:pt x="5168" y="59"/>
                </a:cubicBezTo>
                <a:cubicBezTo>
                  <a:pt x="5177" y="68"/>
                  <a:pt x="5186" y="78"/>
                  <a:pt x="5193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1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3" y="1854"/>
                </a:cubicBezTo>
                <a:cubicBezTo>
                  <a:pt x="5186" y="1864"/>
                  <a:pt x="5177" y="1875"/>
                  <a:pt x="5168" y="1884"/>
                </a:cubicBezTo>
                <a:cubicBezTo>
                  <a:pt x="5159" y="1893"/>
                  <a:pt x="5149" y="1901"/>
                  <a:pt x="5138" y="1909"/>
                </a:cubicBezTo>
                <a:cubicBezTo>
                  <a:pt x="5127" y="1916"/>
                  <a:pt x="5116" y="1922"/>
                  <a:pt x="5104" y="1927"/>
                </a:cubicBezTo>
                <a:cubicBezTo>
                  <a:pt x="5091" y="1932"/>
                  <a:pt x="5079" y="1936"/>
                  <a:pt x="5066" y="1938"/>
                </a:cubicBezTo>
                <a:cubicBezTo>
                  <a:pt x="5053" y="1941"/>
                  <a:pt x="5040" y="1942"/>
                  <a:pt x="5027" y="1942"/>
                </a:cubicBezTo>
                <a:lnTo>
                  <a:pt x="200" y="1942"/>
                </a:lnTo>
                <a:cubicBezTo>
                  <a:pt x="186" y="1942"/>
                  <a:pt x="173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9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5"/>
                  <a:pt x="41" y="1864"/>
                  <a:pt x="34" y="1854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1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1"/>
                  <a:pt x="123" y="16"/>
                </a:cubicBezTo>
                <a:cubicBezTo>
                  <a:pt x="135" y="11"/>
                  <a:pt x="148" y="7"/>
                  <a:pt x="161" y="4"/>
                </a:cubicBezTo>
                <a:cubicBezTo>
                  <a:pt x="173" y="2"/>
                  <a:pt x="186" y="0"/>
                  <a:pt x="200" y="0"/>
                </a:cubicBezTo>
                <a:close/>
              </a:path>
            </a:pathLst>
          </a:custGeom>
          <a:solidFill>
            <a:srgbClr val="00af81"/>
          </a:solidFill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119200" y="2589480"/>
            <a:ext cx="1183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misschien al een docent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7409520" y="2251080"/>
            <a:ext cx="79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Geroosterd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7242840" y="2455200"/>
            <a:ext cx="1178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dag, tijd, lokaal, docent,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26656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57112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450576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481032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6610680" y="250164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6915240" y="245664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546840" y="3012120"/>
            <a:ext cx="1702080" cy="233280"/>
          </a:xfrm>
          <a:custGeom>
            <a:avLst/>
            <a:gdLst/>
            <a:ahLst/>
            <a:rect l="0" t="0" r="r" b="b"/>
            <a:pathLst>
              <a:path w="4728" h="648">
                <a:moveTo>
                  <a:pt x="323" y="0"/>
                </a:moveTo>
                <a:lnTo>
                  <a:pt x="4405" y="0"/>
                </a:lnTo>
                <a:cubicBezTo>
                  <a:pt x="4426" y="0"/>
                  <a:pt x="4447" y="2"/>
                  <a:pt x="4468" y="6"/>
                </a:cubicBezTo>
                <a:cubicBezTo>
                  <a:pt x="4489" y="10"/>
                  <a:pt x="4509" y="16"/>
                  <a:pt x="4529" y="25"/>
                </a:cubicBezTo>
                <a:cubicBezTo>
                  <a:pt x="4548" y="33"/>
                  <a:pt x="4567" y="43"/>
                  <a:pt x="4585" y="54"/>
                </a:cubicBezTo>
                <a:cubicBezTo>
                  <a:pt x="4602" y="66"/>
                  <a:pt x="4619" y="80"/>
                  <a:pt x="4634" y="95"/>
                </a:cubicBezTo>
                <a:cubicBezTo>
                  <a:pt x="4649" y="110"/>
                  <a:pt x="4662" y="126"/>
                  <a:pt x="4674" y="144"/>
                </a:cubicBezTo>
                <a:cubicBezTo>
                  <a:pt x="4686" y="161"/>
                  <a:pt x="4696" y="180"/>
                  <a:pt x="4704" y="200"/>
                </a:cubicBezTo>
                <a:cubicBezTo>
                  <a:pt x="4712" y="219"/>
                  <a:pt x="4718" y="239"/>
                  <a:pt x="4722" y="260"/>
                </a:cubicBezTo>
                <a:cubicBezTo>
                  <a:pt x="4726" y="281"/>
                  <a:pt x="4728" y="302"/>
                  <a:pt x="4728" y="323"/>
                </a:cubicBezTo>
                <a:cubicBezTo>
                  <a:pt x="4728" y="345"/>
                  <a:pt x="4726" y="367"/>
                  <a:pt x="4722" y="387"/>
                </a:cubicBezTo>
                <a:cubicBezTo>
                  <a:pt x="4718" y="408"/>
                  <a:pt x="4712" y="429"/>
                  <a:pt x="4704" y="448"/>
                </a:cubicBezTo>
                <a:cubicBezTo>
                  <a:pt x="4696" y="468"/>
                  <a:pt x="4686" y="486"/>
                  <a:pt x="4674" y="504"/>
                </a:cubicBezTo>
                <a:cubicBezTo>
                  <a:pt x="4662" y="522"/>
                  <a:pt x="4649" y="538"/>
                  <a:pt x="4634" y="553"/>
                </a:cubicBezTo>
                <a:cubicBezTo>
                  <a:pt x="4619" y="568"/>
                  <a:pt x="4602" y="582"/>
                  <a:pt x="4585" y="593"/>
                </a:cubicBezTo>
                <a:cubicBezTo>
                  <a:pt x="4567" y="605"/>
                  <a:pt x="4548" y="615"/>
                  <a:pt x="4529" y="623"/>
                </a:cubicBezTo>
                <a:cubicBezTo>
                  <a:pt x="4509" y="631"/>
                  <a:pt x="4489" y="637"/>
                  <a:pt x="4468" y="642"/>
                </a:cubicBezTo>
                <a:cubicBezTo>
                  <a:pt x="4447" y="646"/>
                  <a:pt x="4426" y="648"/>
                  <a:pt x="4405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2"/>
                </a:cubicBezTo>
                <a:cubicBezTo>
                  <a:pt x="239" y="637"/>
                  <a:pt x="219" y="631"/>
                  <a:pt x="200" y="623"/>
                </a:cubicBezTo>
                <a:cubicBezTo>
                  <a:pt x="180" y="615"/>
                  <a:pt x="161" y="605"/>
                  <a:pt x="144" y="593"/>
                </a:cubicBezTo>
                <a:cubicBezTo>
                  <a:pt x="126" y="582"/>
                  <a:pt x="110" y="568"/>
                  <a:pt x="95" y="553"/>
                </a:cubicBezTo>
                <a:cubicBezTo>
                  <a:pt x="80" y="538"/>
                  <a:pt x="66" y="522"/>
                  <a:pt x="54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6" y="429"/>
                  <a:pt x="10" y="408"/>
                  <a:pt x="6" y="387"/>
                </a:cubicBezTo>
                <a:cubicBezTo>
                  <a:pt x="2" y="367"/>
                  <a:pt x="0" y="345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5" y="200"/>
                </a:cubicBezTo>
                <a:cubicBezTo>
                  <a:pt x="33" y="180"/>
                  <a:pt x="43" y="161"/>
                  <a:pt x="54" y="144"/>
                </a:cubicBezTo>
                <a:cubicBezTo>
                  <a:pt x="66" y="126"/>
                  <a:pt x="80" y="110"/>
                  <a:pt x="95" y="95"/>
                </a:cubicBezTo>
                <a:cubicBezTo>
                  <a:pt x="110" y="80"/>
                  <a:pt x="126" y="66"/>
                  <a:pt x="144" y="54"/>
                </a:cubicBezTo>
                <a:cubicBezTo>
                  <a:pt x="161" y="43"/>
                  <a:pt x="180" y="33"/>
                  <a:pt x="200" y="25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7624080" y="2589480"/>
            <a:ext cx="284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groep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2607120" y="3388320"/>
            <a:ext cx="6090840" cy="233280"/>
          </a:xfrm>
          <a:custGeom>
            <a:avLst/>
            <a:gdLst/>
            <a:ahLst/>
            <a:rect l="0" t="0" r="r" b="b"/>
            <a:pathLst>
              <a:path w="16919" h="648">
                <a:moveTo>
                  <a:pt x="323" y="0"/>
                </a:moveTo>
                <a:lnTo>
                  <a:pt x="16596" y="0"/>
                </a:lnTo>
                <a:cubicBezTo>
                  <a:pt x="16617" y="0"/>
                  <a:pt x="16638" y="2"/>
                  <a:pt x="16659" y="6"/>
                </a:cubicBezTo>
                <a:cubicBezTo>
                  <a:pt x="16680" y="10"/>
                  <a:pt x="16700" y="16"/>
                  <a:pt x="16720" y="25"/>
                </a:cubicBezTo>
                <a:cubicBezTo>
                  <a:pt x="16739" y="33"/>
                  <a:pt x="16758" y="43"/>
                  <a:pt x="16776" y="54"/>
                </a:cubicBezTo>
                <a:cubicBezTo>
                  <a:pt x="16793" y="66"/>
                  <a:pt x="16810" y="80"/>
                  <a:pt x="16825" y="95"/>
                </a:cubicBezTo>
                <a:cubicBezTo>
                  <a:pt x="16840" y="110"/>
                  <a:pt x="16853" y="126"/>
                  <a:pt x="16865" y="144"/>
                </a:cubicBezTo>
                <a:cubicBezTo>
                  <a:pt x="16877" y="161"/>
                  <a:pt x="16887" y="180"/>
                  <a:pt x="16895" y="200"/>
                </a:cubicBezTo>
                <a:cubicBezTo>
                  <a:pt x="16903" y="219"/>
                  <a:pt x="16909" y="239"/>
                  <a:pt x="16913" y="260"/>
                </a:cubicBezTo>
                <a:cubicBezTo>
                  <a:pt x="16917" y="281"/>
                  <a:pt x="16919" y="302"/>
                  <a:pt x="16919" y="323"/>
                </a:cubicBezTo>
                <a:cubicBezTo>
                  <a:pt x="16919" y="345"/>
                  <a:pt x="16917" y="366"/>
                  <a:pt x="16913" y="386"/>
                </a:cubicBezTo>
                <a:cubicBezTo>
                  <a:pt x="16909" y="407"/>
                  <a:pt x="16903" y="428"/>
                  <a:pt x="16895" y="447"/>
                </a:cubicBezTo>
                <a:cubicBezTo>
                  <a:pt x="16887" y="467"/>
                  <a:pt x="16877" y="485"/>
                  <a:pt x="16865" y="503"/>
                </a:cubicBezTo>
                <a:cubicBezTo>
                  <a:pt x="16853" y="521"/>
                  <a:pt x="16840" y="537"/>
                  <a:pt x="16825" y="552"/>
                </a:cubicBezTo>
                <a:cubicBezTo>
                  <a:pt x="16810" y="567"/>
                  <a:pt x="16793" y="580"/>
                  <a:pt x="16776" y="592"/>
                </a:cubicBezTo>
                <a:cubicBezTo>
                  <a:pt x="16758" y="605"/>
                  <a:pt x="16739" y="615"/>
                  <a:pt x="16720" y="623"/>
                </a:cubicBezTo>
                <a:cubicBezTo>
                  <a:pt x="16700" y="631"/>
                  <a:pt x="16680" y="637"/>
                  <a:pt x="16659" y="642"/>
                </a:cubicBezTo>
                <a:cubicBezTo>
                  <a:pt x="16638" y="646"/>
                  <a:pt x="16617" y="648"/>
                  <a:pt x="16596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2"/>
                </a:cubicBezTo>
                <a:cubicBezTo>
                  <a:pt x="239" y="637"/>
                  <a:pt x="219" y="631"/>
                  <a:pt x="199" y="623"/>
                </a:cubicBezTo>
                <a:cubicBezTo>
                  <a:pt x="180" y="615"/>
                  <a:pt x="161" y="605"/>
                  <a:pt x="143" y="592"/>
                </a:cubicBezTo>
                <a:cubicBezTo>
                  <a:pt x="126" y="580"/>
                  <a:pt x="109" y="567"/>
                  <a:pt x="94" y="552"/>
                </a:cubicBezTo>
                <a:cubicBezTo>
                  <a:pt x="79" y="537"/>
                  <a:pt x="66" y="521"/>
                  <a:pt x="54" y="503"/>
                </a:cubicBezTo>
                <a:cubicBezTo>
                  <a:pt x="42" y="485"/>
                  <a:pt x="32" y="467"/>
                  <a:pt x="24" y="447"/>
                </a:cubicBezTo>
                <a:cubicBezTo>
                  <a:pt x="16" y="428"/>
                  <a:pt x="10" y="407"/>
                  <a:pt x="6" y="386"/>
                </a:cubicBezTo>
                <a:cubicBezTo>
                  <a:pt x="2" y="366"/>
                  <a:pt x="0" y="345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4" y="200"/>
                </a:cubicBezTo>
                <a:cubicBezTo>
                  <a:pt x="32" y="180"/>
                  <a:pt x="42" y="161"/>
                  <a:pt x="54" y="144"/>
                </a:cubicBezTo>
                <a:cubicBezTo>
                  <a:pt x="66" y="126"/>
                  <a:pt x="79" y="110"/>
                  <a:pt x="94" y="95"/>
                </a:cubicBezTo>
                <a:cubicBezTo>
                  <a:pt x="109" y="80"/>
                  <a:pt x="126" y="66"/>
                  <a:pt x="143" y="54"/>
                </a:cubicBezTo>
                <a:cubicBezTo>
                  <a:pt x="161" y="43"/>
                  <a:pt x="180" y="33"/>
                  <a:pt x="199" y="25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3db8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672480" y="3064680"/>
            <a:ext cx="1735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intekenen: op de speciﬁcatie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6816600" y="3764520"/>
            <a:ext cx="1881360" cy="233280"/>
          </a:xfrm>
          <a:custGeom>
            <a:avLst/>
            <a:gdLst/>
            <a:ahLst/>
            <a:rect l="0" t="0" r="r" b="b"/>
            <a:pathLst>
              <a:path w="5226" h="648">
                <a:moveTo>
                  <a:pt x="324" y="0"/>
                </a:moveTo>
                <a:lnTo>
                  <a:pt x="4903" y="0"/>
                </a:lnTo>
                <a:cubicBezTo>
                  <a:pt x="4924" y="0"/>
                  <a:pt x="4945" y="2"/>
                  <a:pt x="4966" y="6"/>
                </a:cubicBezTo>
                <a:cubicBezTo>
                  <a:pt x="4987" y="10"/>
                  <a:pt x="5007" y="16"/>
                  <a:pt x="5027" y="25"/>
                </a:cubicBezTo>
                <a:cubicBezTo>
                  <a:pt x="5046" y="33"/>
                  <a:pt x="5065" y="43"/>
                  <a:pt x="5083" y="54"/>
                </a:cubicBezTo>
                <a:cubicBezTo>
                  <a:pt x="5100" y="66"/>
                  <a:pt x="5117" y="80"/>
                  <a:pt x="5132" y="95"/>
                </a:cubicBezTo>
                <a:cubicBezTo>
                  <a:pt x="5147" y="110"/>
                  <a:pt x="5160" y="126"/>
                  <a:pt x="5172" y="144"/>
                </a:cubicBezTo>
                <a:cubicBezTo>
                  <a:pt x="5184" y="161"/>
                  <a:pt x="5194" y="180"/>
                  <a:pt x="5202" y="200"/>
                </a:cubicBezTo>
                <a:cubicBezTo>
                  <a:pt x="5210" y="220"/>
                  <a:pt x="5216" y="240"/>
                  <a:pt x="5220" y="261"/>
                </a:cubicBezTo>
                <a:cubicBezTo>
                  <a:pt x="5224" y="282"/>
                  <a:pt x="5226" y="303"/>
                  <a:pt x="5226" y="324"/>
                </a:cubicBezTo>
                <a:cubicBezTo>
                  <a:pt x="5226" y="346"/>
                  <a:pt x="5224" y="367"/>
                  <a:pt x="5220" y="387"/>
                </a:cubicBezTo>
                <a:cubicBezTo>
                  <a:pt x="5216" y="408"/>
                  <a:pt x="5210" y="429"/>
                  <a:pt x="5202" y="448"/>
                </a:cubicBezTo>
                <a:cubicBezTo>
                  <a:pt x="5194" y="468"/>
                  <a:pt x="5184" y="486"/>
                  <a:pt x="5172" y="504"/>
                </a:cubicBezTo>
                <a:cubicBezTo>
                  <a:pt x="5160" y="522"/>
                  <a:pt x="5147" y="538"/>
                  <a:pt x="5132" y="553"/>
                </a:cubicBezTo>
                <a:cubicBezTo>
                  <a:pt x="5117" y="568"/>
                  <a:pt x="5100" y="581"/>
                  <a:pt x="5083" y="593"/>
                </a:cubicBezTo>
                <a:cubicBezTo>
                  <a:pt x="5065" y="605"/>
                  <a:pt x="5046" y="615"/>
                  <a:pt x="5027" y="623"/>
                </a:cubicBezTo>
                <a:cubicBezTo>
                  <a:pt x="5007" y="631"/>
                  <a:pt x="4987" y="637"/>
                  <a:pt x="4966" y="642"/>
                </a:cubicBezTo>
                <a:cubicBezTo>
                  <a:pt x="4945" y="646"/>
                  <a:pt x="4924" y="648"/>
                  <a:pt x="4903" y="648"/>
                </a:cubicBezTo>
                <a:lnTo>
                  <a:pt x="324" y="648"/>
                </a:lnTo>
                <a:cubicBezTo>
                  <a:pt x="303" y="648"/>
                  <a:pt x="282" y="646"/>
                  <a:pt x="261" y="642"/>
                </a:cubicBezTo>
                <a:cubicBezTo>
                  <a:pt x="240" y="637"/>
                  <a:pt x="220" y="631"/>
                  <a:pt x="200" y="623"/>
                </a:cubicBezTo>
                <a:cubicBezTo>
                  <a:pt x="181" y="615"/>
                  <a:pt x="162" y="605"/>
                  <a:pt x="144" y="593"/>
                </a:cubicBezTo>
                <a:cubicBezTo>
                  <a:pt x="127" y="581"/>
                  <a:pt x="110" y="568"/>
                  <a:pt x="95" y="553"/>
                </a:cubicBezTo>
                <a:cubicBezTo>
                  <a:pt x="80" y="538"/>
                  <a:pt x="67" y="522"/>
                  <a:pt x="55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7" y="429"/>
                  <a:pt x="11" y="408"/>
                  <a:pt x="7" y="387"/>
                </a:cubicBezTo>
                <a:cubicBezTo>
                  <a:pt x="3" y="367"/>
                  <a:pt x="0" y="346"/>
                  <a:pt x="0" y="324"/>
                </a:cubicBezTo>
                <a:cubicBezTo>
                  <a:pt x="0" y="303"/>
                  <a:pt x="3" y="282"/>
                  <a:pt x="7" y="261"/>
                </a:cubicBezTo>
                <a:cubicBezTo>
                  <a:pt x="11" y="240"/>
                  <a:pt x="17" y="220"/>
                  <a:pt x="25" y="200"/>
                </a:cubicBezTo>
                <a:cubicBezTo>
                  <a:pt x="33" y="180"/>
                  <a:pt x="43" y="161"/>
                  <a:pt x="55" y="144"/>
                </a:cubicBezTo>
                <a:cubicBezTo>
                  <a:pt x="67" y="126"/>
                  <a:pt x="80" y="110"/>
                  <a:pt x="95" y="95"/>
                </a:cubicBezTo>
                <a:cubicBezTo>
                  <a:pt x="110" y="80"/>
                  <a:pt x="127" y="66"/>
                  <a:pt x="144" y="54"/>
                </a:cubicBezTo>
                <a:cubicBezTo>
                  <a:pt x="162" y="43"/>
                  <a:pt x="181" y="33"/>
                  <a:pt x="200" y="25"/>
                </a:cubicBezTo>
                <a:cubicBezTo>
                  <a:pt x="220" y="16"/>
                  <a:pt x="240" y="10"/>
                  <a:pt x="261" y="6"/>
                </a:cubicBezTo>
                <a:cubicBezTo>
                  <a:pt x="282" y="2"/>
                  <a:pt x="303" y="0"/>
                  <a:pt x="324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 txBox="1"/>
          <p:nvPr/>
        </p:nvSpPr>
        <p:spPr>
          <a:xfrm>
            <a:off x="2732400" y="3440880"/>
            <a:ext cx="289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aanmelden: op aanbod, in elke fase van rijpheid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8456040" y="3782520"/>
            <a:ext cx="197280" cy="197280"/>
          </a:xfrm>
          <a:custGeom>
            <a:avLst/>
            <a:gdLst/>
            <a:ahLst/>
            <a:rect l="0" t="0" r="r" b="b"/>
            <a:pathLst>
              <a:path w="548" h="548">
                <a:moveTo>
                  <a:pt x="548" y="274"/>
                </a:moveTo>
                <a:cubicBezTo>
                  <a:pt x="548" y="292"/>
                  <a:pt x="546" y="310"/>
                  <a:pt x="543" y="328"/>
                </a:cubicBezTo>
                <a:cubicBezTo>
                  <a:pt x="539" y="345"/>
                  <a:pt x="534" y="362"/>
                  <a:pt x="527" y="379"/>
                </a:cubicBezTo>
                <a:cubicBezTo>
                  <a:pt x="520" y="396"/>
                  <a:pt x="512" y="411"/>
                  <a:pt x="502" y="426"/>
                </a:cubicBezTo>
                <a:cubicBezTo>
                  <a:pt x="492" y="441"/>
                  <a:pt x="481" y="455"/>
                  <a:pt x="468" y="468"/>
                </a:cubicBezTo>
                <a:cubicBezTo>
                  <a:pt x="455" y="481"/>
                  <a:pt x="441" y="492"/>
                  <a:pt x="426" y="502"/>
                </a:cubicBezTo>
                <a:cubicBezTo>
                  <a:pt x="411" y="512"/>
                  <a:pt x="396" y="520"/>
                  <a:pt x="379" y="527"/>
                </a:cubicBezTo>
                <a:cubicBezTo>
                  <a:pt x="362" y="534"/>
                  <a:pt x="345" y="539"/>
                  <a:pt x="328" y="543"/>
                </a:cubicBezTo>
                <a:cubicBezTo>
                  <a:pt x="310" y="546"/>
                  <a:pt x="291" y="548"/>
                  <a:pt x="273" y="548"/>
                </a:cubicBezTo>
                <a:cubicBezTo>
                  <a:pt x="255" y="548"/>
                  <a:pt x="238" y="546"/>
                  <a:pt x="220" y="543"/>
                </a:cubicBezTo>
                <a:cubicBezTo>
                  <a:pt x="202" y="539"/>
                  <a:pt x="185" y="534"/>
                  <a:pt x="169" y="527"/>
                </a:cubicBezTo>
                <a:cubicBezTo>
                  <a:pt x="152" y="520"/>
                  <a:pt x="136" y="512"/>
                  <a:pt x="121" y="502"/>
                </a:cubicBezTo>
                <a:cubicBezTo>
                  <a:pt x="106" y="492"/>
                  <a:pt x="93" y="481"/>
                  <a:pt x="80" y="468"/>
                </a:cubicBezTo>
                <a:cubicBezTo>
                  <a:pt x="67" y="455"/>
                  <a:pt x="56" y="441"/>
                  <a:pt x="46" y="426"/>
                </a:cubicBezTo>
                <a:cubicBezTo>
                  <a:pt x="36" y="411"/>
                  <a:pt x="27" y="396"/>
                  <a:pt x="20" y="379"/>
                </a:cubicBezTo>
                <a:cubicBezTo>
                  <a:pt x="14" y="362"/>
                  <a:pt x="8" y="345"/>
                  <a:pt x="5" y="328"/>
                </a:cubicBezTo>
                <a:cubicBezTo>
                  <a:pt x="1" y="310"/>
                  <a:pt x="0" y="292"/>
                  <a:pt x="0" y="274"/>
                </a:cubicBezTo>
                <a:cubicBezTo>
                  <a:pt x="0" y="256"/>
                  <a:pt x="1" y="239"/>
                  <a:pt x="5" y="221"/>
                </a:cubicBezTo>
                <a:cubicBezTo>
                  <a:pt x="8" y="203"/>
                  <a:pt x="14" y="186"/>
                  <a:pt x="20" y="170"/>
                </a:cubicBezTo>
                <a:cubicBezTo>
                  <a:pt x="27" y="152"/>
                  <a:pt x="36" y="136"/>
                  <a:pt x="46" y="121"/>
                </a:cubicBezTo>
                <a:cubicBezTo>
                  <a:pt x="56" y="106"/>
                  <a:pt x="67" y="93"/>
                  <a:pt x="80" y="80"/>
                </a:cubicBezTo>
                <a:cubicBezTo>
                  <a:pt x="93" y="67"/>
                  <a:pt x="106" y="56"/>
                  <a:pt x="121" y="46"/>
                </a:cubicBezTo>
                <a:cubicBezTo>
                  <a:pt x="136" y="36"/>
                  <a:pt x="152" y="27"/>
                  <a:pt x="169" y="20"/>
                </a:cubicBezTo>
                <a:cubicBezTo>
                  <a:pt x="185" y="14"/>
                  <a:pt x="202" y="8"/>
                  <a:pt x="220" y="5"/>
                </a:cubicBezTo>
                <a:cubicBezTo>
                  <a:pt x="238" y="1"/>
                  <a:pt x="255" y="0"/>
                  <a:pt x="273" y="0"/>
                </a:cubicBezTo>
                <a:cubicBezTo>
                  <a:pt x="291" y="0"/>
                  <a:pt x="310" y="1"/>
                  <a:pt x="328" y="5"/>
                </a:cubicBezTo>
                <a:cubicBezTo>
                  <a:pt x="345" y="8"/>
                  <a:pt x="362" y="14"/>
                  <a:pt x="379" y="20"/>
                </a:cubicBezTo>
                <a:cubicBezTo>
                  <a:pt x="396" y="27"/>
                  <a:pt x="411" y="36"/>
                  <a:pt x="426" y="46"/>
                </a:cubicBezTo>
                <a:cubicBezTo>
                  <a:pt x="441" y="56"/>
                  <a:pt x="455" y="67"/>
                  <a:pt x="468" y="80"/>
                </a:cubicBezTo>
                <a:cubicBezTo>
                  <a:pt x="481" y="93"/>
                  <a:pt x="492" y="106"/>
                  <a:pt x="502" y="121"/>
                </a:cubicBezTo>
                <a:cubicBezTo>
                  <a:pt x="512" y="136"/>
                  <a:pt x="520" y="152"/>
                  <a:pt x="527" y="170"/>
                </a:cubicBezTo>
                <a:cubicBezTo>
                  <a:pt x="534" y="186"/>
                  <a:pt x="539" y="203"/>
                  <a:pt x="543" y="221"/>
                </a:cubicBezTo>
                <a:cubicBezTo>
                  <a:pt x="546" y="239"/>
                  <a:pt x="548" y="256"/>
                  <a:pt x="548" y="27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6942240" y="3817080"/>
            <a:ext cx="1588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inschrijven: op geroosterd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2248560" y="3128400"/>
            <a:ext cx="340920" cy="376560"/>
          </a:xfrm>
          <a:custGeom>
            <a:avLst/>
            <a:gdLst/>
            <a:ahLst/>
            <a:rect l="0" t="0" r="r" b="b"/>
            <a:pathLst>
              <a:path fill="none" w="947" h="1046">
                <a:moveTo>
                  <a:pt x="0" y="0"/>
                </a:moveTo>
                <a:cubicBezTo>
                  <a:pt x="622" y="0"/>
                  <a:pt x="622" y="1046"/>
                  <a:pt x="947" y="1046"/>
                </a:cubicBezTo>
              </a:path>
            </a:pathLst>
          </a:custGeom>
          <a:ln w="17640">
            <a:solidFill>
              <a:srgbClr val="6b728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2571120" y="3459960"/>
            <a:ext cx="72000" cy="90000"/>
          </a:xfrm>
          <a:custGeom>
            <a:avLst/>
            <a:gdLst/>
            <a:ahLst/>
            <a:rect l="0" t="0" r="r" b="b"/>
            <a:pathLst>
              <a:path w="200" h="250">
                <a:moveTo>
                  <a:pt x="0" y="0"/>
                </a:moveTo>
                <a:lnTo>
                  <a:pt x="200" y="124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8521200" y="380124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60" spc="-1" strike="noStrike">
                <a:solidFill>
                  <a:srgbClr val="e9a27f"/>
                </a:solidFill>
                <a:latin typeface="Arial"/>
                <a:ea typeface="Arial"/>
              </a:rPr>
              <a:t>?</a:t>
            </a:r>
            <a:endParaRPr b="0" lang="en-US" sz="10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757280" y="3621240"/>
            <a:ext cx="0" cy="12528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12640" y="3728520"/>
            <a:ext cx="89640" cy="54360"/>
          </a:xfrm>
          <a:custGeom>
            <a:avLst/>
            <a:gdLst/>
            <a:ahLst/>
            <a:rect l="0" t="0" r="r" b="b"/>
            <a:pathLst>
              <a:path w="249" h="151">
                <a:moveTo>
                  <a:pt x="0" y="0"/>
                </a:moveTo>
                <a:lnTo>
                  <a:pt x="125" y="151"/>
                </a:lnTo>
                <a:lnTo>
                  <a:pt x="249" y="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456840" y="4352760"/>
            <a:ext cx="8420760" cy="648000"/>
          </a:xfrm>
          <a:custGeom>
            <a:avLst/>
            <a:gdLst/>
            <a:ahLst/>
            <a:rect l="0" t="0" r="r" b="b"/>
            <a:pathLst>
              <a:path w="23391" h="1800">
                <a:moveTo>
                  <a:pt x="0" y="0"/>
                </a:moveTo>
                <a:lnTo>
                  <a:pt x="23391" y="0"/>
                </a:lnTo>
                <a:lnTo>
                  <a:pt x="23391" y="1800"/>
                </a:lnTo>
                <a:lnTo>
                  <a:pt x="0" y="1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456840" y="43527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56840" y="49910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867520" y="4352760"/>
            <a:ext cx="10080" cy="648000"/>
          </a:xfrm>
          <a:custGeom>
            <a:avLst/>
            <a:gdLst/>
            <a:ahLst/>
            <a:rect l="0" t="0" r="r" b="b"/>
            <a:pathLst>
              <a:path w="28" h="1800">
                <a:moveTo>
                  <a:pt x="0" y="106"/>
                </a:moveTo>
                <a:lnTo>
                  <a:pt x="0" y="1800"/>
                </a:lnTo>
                <a:lnTo>
                  <a:pt x="28" y="18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56840" y="4352760"/>
            <a:ext cx="10080" cy="648000"/>
          </a:xfrm>
          <a:custGeom>
            <a:avLst/>
            <a:gdLst/>
            <a:ahLst/>
            <a:rect l="0" t="0" r="r" b="b"/>
            <a:pathLst>
              <a:path w="28" h="1800">
                <a:moveTo>
                  <a:pt x="0" y="0"/>
                </a:moveTo>
                <a:lnTo>
                  <a:pt x="0" y="1800"/>
                </a:lnTo>
                <a:lnTo>
                  <a:pt x="28" y="180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2212560" y="3260520"/>
            <a:ext cx="520560" cy="1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6b7280"/>
                </a:solidFill>
                <a:latin typeface="Arial"/>
                <a:ea typeface="Arial"/>
              </a:rPr>
              <a:t>bevestiging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 txBox="1"/>
          <p:nvPr/>
        </p:nvSpPr>
        <p:spPr>
          <a:xfrm>
            <a:off x="619200" y="4498920"/>
            <a:ext cx="9029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Vraag aan AII: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intekenen op een speciﬁcatie (er is nog geen aanbod) is wat koploperscholen ons vragen; bij leveranciers is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619200" y="4708440"/>
            <a:ext cx="451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nieuw. Zien wij hetzelfde, of noemen wij twee dingen hetzelfde?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34" name=""/>
          <p:cNvSpPr/>
          <p:nvPr/>
        </p:nvSpPr>
        <p:spPr>
          <a:xfrm>
            <a:off x="456840" y="923760"/>
            <a:ext cx="4115160" cy="2419560"/>
          </a:xfrm>
          <a:custGeom>
            <a:avLst/>
            <a:gdLst/>
            <a:ahLst/>
            <a:rect l="0" t="0" r="r" b="b"/>
            <a:pathLst>
              <a:path w="11431" h="6721">
                <a:moveTo>
                  <a:pt x="0" y="0"/>
                </a:moveTo>
                <a:lnTo>
                  <a:pt x="11431" y="0"/>
                </a:lnTo>
                <a:lnTo>
                  <a:pt x="11431" y="6721"/>
                </a:lnTo>
                <a:lnTo>
                  <a:pt x="0" y="67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456840" y="9237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456840" y="33336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4562280" y="923760"/>
            <a:ext cx="9720" cy="2419560"/>
          </a:xfrm>
          <a:custGeom>
            <a:avLst/>
            <a:gdLst/>
            <a:ahLst/>
            <a:rect l="0" t="0" r="r" b="b"/>
            <a:pathLst>
              <a:path w="27" h="6721">
                <a:moveTo>
                  <a:pt x="0" y="106"/>
                </a:moveTo>
                <a:lnTo>
                  <a:pt x="0" y="6721"/>
                </a:lnTo>
                <a:lnTo>
                  <a:pt x="27" y="672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456840" y="923760"/>
            <a:ext cx="10080" cy="2419560"/>
          </a:xfrm>
          <a:custGeom>
            <a:avLst/>
            <a:gdLst/>
            <a:ahLst/>
            <a:rect l="0" t="0" r="r" b="b"/>
            <a:pathLst>
              <a:path w="28" h="6721">
                <a:moveTo>
                  <a:pt x="0" y="0"/>
                </a:moveTo>
                <a:lnTo>
                  <a:pt x="0" y="6721"/>
                </a:lnTo>
                <a:lnTo>
                  <a:pt x="28" y="672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439920" y="310320"/>
            <a:ext cx="9999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 de hoogte blijven, en de afspraken van vandaag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80840" y="1419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619200" y="1087920"/>
            <a:ext cx="1338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Wat OKx aanbiedt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968760" y="1365480"/>
            <a:ext cx="36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Alles openbaar en herleidbaar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in GitHub (Npuls-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 txBox="1"/>
          <p:nvPr/>
        </p:nvSpPr>
        <p:spPr>
          <a:xfrm>
            <a:off x="968760" y="1622520"/>
            <a:ext cx="290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OKx/Public): begrippen, informatiemodel,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80840" y="22287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968760" y="1870200"/>
            <a:ext cx="1607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speciﬁcaties, besluiten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968760" y="2174760"/>
            <a:ext cx="3626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Per doelgroep de juiste vorm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uit dezelfde bron: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80840" y="27716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968760" y="2422440"/>
            <a:ext cx="2908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leeshulp met invulblad, speciﬁcatie, deck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968760" y="2718000"/>
            <a:ext cx="3635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De voorbeelduitwerking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als gemeenschappelijke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4762440" y="923760"/>
            <a:ext cx="4115160" cy="3267360"/>
          </a:xfrm>
          <a:custGeom>
            <a:avLst/>
            <a:gdLst/>
            <a:ahLst/>
            <a:rect l="0" t="0" r="r" b="b"/>
            <a:pathLst>
              <a:path w="11431" h="9076">
                <a:moveTo>
                  <a:pt x="0" y="0"/>
                </a:moveTo>
                <a:lnTo>
                  <a:pt x="11431" y="0"/>
                </a:lnTo>
                <a:lnTo>
                  <a:pt x="11431" y="9076"/>
                </a:lnTo>
                <a:lnTo>
                  <a:pt x="0" y="90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4762440" y="9237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4762440" y="41814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8867520" y="923760"/>
            <a:ext cx="10080" cy="3267360"/>
          </a:xfrm>
          <a:custGeom>
            <a:avLst/>
            <a:gdLst/>
            <a:ahLst/>
            <a:rect l="0" t="0" r="r" b="b"/>
            <a:pathLst>
              <a:path w="28" h="9076">
                <a:moveTo>
                  <a:pt x="0" y="106"/>
                </a:moveTo>
                <a:lnTo>
                  <a:pt x="0" y="9076"/>
                </a:lnTo>
                <a:lnTo>
                  <a:pt x="28" y="90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4762440" y="923760"/>
            <a:ext cx="9720" cy="3267360"/>
          </a:xfrm>
          <a:custGeom>
            <a:avLst/>
            <a:gdLst/>
            <a:ahLst/>
            <a:rect l="0" t="0" r="r" b="b"/>
            <a:pathLst>
              <a:path w="27" h="9076">
                <a:moveTo>
                  <a:pt x="0" y="0"/>
                </a:moveTo>
                <a:lnTo>
                  <a:pt x="0" y="9076"/>
                </a:lnTo>
                <a:lnTo>
                  <a:pt x="27" y="907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968760" y="2975040"/>
            <a:ext cx="26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taal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5086080" y="141912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4928040" y="1087920"/>
            <a:ext cx="1672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Voorstel voor vandaag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5277960" y="1365480"/>
            <a:ext cx="3737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AII spoor 3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werksessie over aanmelden, intekenen,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5086080" y="197136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5277960" y="1622520"/>
            <a:ext cx="2865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inschrijven en het ontsluiten van aanbod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5277960" y="1917720"/>
            <a:ext cx="3350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Onderwijs Catalogus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gedeelde begrippen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5086080" y="2523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5277960" y="2174760"/>
            <a:ext cx="2404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met eduXchange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5277960" y="2470320"/>
            <a:ext cx="4028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EduID en identity provisioning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wie is leidend voor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5086080" y="30765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5277960" y="2718000"/>
            <a:ext cx="1369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 in de keten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5277960" y="3022560"/>
            <a:ext cx="3678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Leeruitkomsten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met de LUK-werkgroep de sleutel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5086080" y="36194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5277960" y="3270240"/>
            <a:ext cx="220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over de pijlers heen vaststellen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5277960" y="3565440"/>
            <a:ext cx="3940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Ritme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OKx aan tafel op de raakvlakken, de anderen bij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456840" y="4314600"/>
            <a:ext cx="8420760" cy="628920"/>
          </a:xfrm>
          <a:custGeom>
            <a:avLst/>
            <a:gdLst/>
            <a:ahLst/>
            <a:rect l="0" t="0" r="r" b="b"/>
            <a:pathLst>
              <a:path w="23391" h="1747">
                <a:moveTo>
                  <a:pt x="0" y="0"/>
                </a:moveTo>
                <a:lnTo>
                  <a:pt x="23391" y="0"/>
                </a:lnTo>
                <a:lnTo>
                  <a:pt x="2339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456840" y="4314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456840" y="493380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8867520" y="431460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106"/>
                </a:moveTo>
                <a:lnTo>
                  <a:pt x="0" y="1747"/>
                </a:lnTo>
                <a:lnTo>
                  <a:pt x="28" y="174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456840" y="431460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5277960" y="3822840"/>
            <a:ext cx="1588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kerngroep techniek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619200" y="4463640"/>
            <a:ext cx="9213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Twee knopen die wij vandaag kunnen doorhakken: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kiezen tot en met de leeractiviteit, en leeruitkomsten als ordenend principe.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619200" y="4673160"/>
            <a:ext cx="3411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Deelt de tafel die, dan bouwen wij daarop verder.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