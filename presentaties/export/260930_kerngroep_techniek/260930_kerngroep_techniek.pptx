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 txBox="1"/>
          <p:nvPr/>
        </p:nvSpPr>
        <p:spPr>
          <a:xfrm>
            <a:off x="439920" y="1234440"/>
            <a:ext cx="9344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informatiemodel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57200" y="1827720"/>
            <a:ext cx="9359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15 september: druk een opleiding helemaal uit in het informatiemodel, zodat zichtbaar wordt of iedereen hetzelfde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5684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5684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5684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31431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106"/>
                </a:moveTo>
                <a:lnTo>
                  <a:pt x="0" y="3520"/>
                </a:lnTo>
                <a:lnTo>
                  <a:pt x="27" y="352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84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57200" y="2046960"/>
            <a:ext cx="590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bedoelt.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34320" y="2625840"/>
            <a:ext cx="1008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34320" y="2932920"/>
            <a:ext cx="221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257 regels over acht fasen, in 64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34320" y="3133080"/>
            <a:ext cx="214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beelden; 65 objecttypen in acht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323880" y="2400120"/>
            <a:ext cx="2686680" cy="1267200"/>
          </a:xfrm>
          <a:custGeom>
            <a:avLst/>
            <a:gdLst/>
            <a:ahLst/>
            <a:rect l="0" t="0" r="r" b="b"/>
            <a:pathLst>
              <a:path w="7463" h="3520">
                <a:moveTo>
                  <a:pt x="0" y="0"/>
                </a:moveTo>
                <a:lnTo>
                  <a:pt x="7463" y="0"/>
                </a:lnTo>
                <a:lnTo>
                  <a:pt x="7463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323880" y="2400120"/>
            <a:ext cx="2686680" cy="38880"/>
          </a:xfrm>
          <a:custGeom>
            <a:avLst/>
            <a:gdLst/>
            <a:ahLst/>
            <a:rect l="0" t="0" r="r" b="b"/>
            <a:pathLst>
              <a:path w="7463" h="108">
                <a:moveTo>
                  <a:pt x="0" y="0"/>
                </a:moveTo>
                <a:lnTo>
                  <a:pt x="7463" y="0"/>
                </a:lnTo>
                <a:lnTo>
                  <a:pt x="7463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323880" y="3657240"/>
            <a:ext cx="2686680" cy="10080"/>
          </a:xfrm>
          <a:custGeom>
            <a:avLst/>
            <a:gdLst/>
            <a:ahLst/>
            <a:rect l="0" t="0" r="r" b="b"/>
            <a:pathLst>
              <a:path w="7463" h="28">
                <a:moveTo>
                  <a:pt x="0" y="0"/>
                </a:moveTo>
                <a:lnTo>
                  <a:pt x="7463" y="0"/>
                </a:lnTo>
                <a:lnTo>
                  <a:pt x="746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60004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32388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634320" y="3333240"/>
            <a:ext cx="120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begrippenfamilies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497040" y="2625840"/>
            <a:ext cx="1267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het leest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497040" y="2932920"/>
            <a:ext cx="2567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stap: wat ontstaat, wat verandert,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497040" y="3133080"/>
            <a:ext cx="207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 wat tussen welke systemen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6181560" y="2400120"/>
            <a:ext cx="2696040" cy="1267200"/>
          </a:xfrm>
          <a:custGeom>
            <a:avLst/>
            <a:gdLst/>
            <a:ahLst/>
            <a:rect l="0" t="0" r="r" b="b"/>
            <a:pathLst>
              <a:path w="7489" h="3520">
                <a:moveTo>
                  <a:pt x="0" y="0"/>
                </a:moveTo>
                <a:lnTo>
                  <a:pt x="7489" y="0"/>
                </a:lnTo>
                <a:lnTo>
                  <a:pt x="7489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6181560" y="2400120"/>
            <a:ext cx="2696040" cy="38880"/>
          </a:xfrm>
          <a:custGeom>
            <a:avLst/>
            <a:gdLst/>
            <a:ahLst/>
            <a:rect l="0" t="0" r="r" b="b"/>
            <a:pathLst>
              <a:path w="7489" h="108">
                <a:moveTo>
                  <a:pt x="0" y="0"/>
                </a:moveTo>
                <a:lnTo>
                  <a:pt x="7489" y="0"/>
                </a:lnTo>
                <a:lnTo>
                  <a:pt x="7489" y="108"/>
                </a:lnTo>
                <a:lnTo>
                  <a:pt x="0" y="10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6181560" y="3657240"/>
            <a:ext cx="2696040" cy="10080"/>
          </a:xfrm>
          <a:custGeom>
            <a:avLst/>
            <a:gdLst/>
            <a:ahLst/>
            <a:rect l="0" t="0" r="r" b="b"/>
            <a:pathLst>
              <a:path w="7489" h="28">
                <a:moveTo>
                  <a:pt x="0" y="0"/>
                </a:moveTo>
                <a:lnTo>
                  <a:pt x="7489" y="0"/>
                </a:lnTo>
                <a:lnTo>
                  <a:pt x="7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8867520" y="240012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6181560" y="2400120"/>
            <a:ext cx="9720" cy="1267200"/>
          </a:xfrm>
          <a:custGeom>
            <a:avLst/>
            <a:gdLst/>
            <a:ahLst/>
            <a:rect l="0" t="0" r="r" b="b"/>
            <a:pathLst>
              <a:path w="27" h="3520">
                <a:moveTo>
                  <a:pt x="0" y="0"/>
                </a:moveTo>
                <a:lnTo>
                  <a:pt x="0" y="3520"/>
                </a:lnTo>
                <a:lnTo>
                  <a:pt x="27" y="352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497040" y="3333240"/>
            <a:ext cx="52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stroomt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6359400" y="2625840"/>
            <a:ext cx="194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gevraagd wordt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6359400" y="2932920"/>
            <a:ext cx="228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Feedback, geen commitment: 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359400" y="3133080"/>
            <a:ext cx="2597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objecttype de eigen naam en de eigen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6359400" y="3333240"/>
            <a:ext cx="23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plek in het model, op het invulblad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457200" y="3847320"/>
            <a:ext cx="6320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Conceptueel niveau (MIM 1 en 2). De bijlage van zes pagina's en het invulblad liggen op tafel.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0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2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33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9920" y="558000"/>
            <a:ext cx="42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regel van dichtbij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905360" y="3805560"/>
            <a:ext cx="3816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het invulblad noemt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4905360" y="4053240"/>
            <a:ext cx="776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7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1251360" y="275004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916440" y="3422880"/>
            <a:ext cx="1044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762440" y="1971360"/>
            <a:ext cx="3743640" cy="324360"/>
          </a:xfrm>
          <a:custGeom>
            <a:avLst/>
            <a:gdLst/>
            <a:ahLst/>
            <a:rect l="0" t="0" r="r" b="b"/>
            <a:pathLst>
              <a:path w="10399" h="901">
                <a:moveTo>
                  <a:pt x="0" y="0"/>
                </a:moveTo>
                <a:lnTo>
                  <a:pt x="10399" y="0"/>
                </a:lnTo>
                <a:lnTo>
                  <a:pt x="1039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8505720" y="1971360"/>
            <a:ext cx="371880" cy="324360"/>
          </a:xfrm>
          <a:custGeom>
            <a:avLst/>
            <a:gdLst/>
            <a:ahLst/>
            <a:rect l="0" t="0" r="r" b="b"/>
            <a:pathLst>
              <a:path w="1033" h="901">
                <a:moveTo>
                  <a:pt x="0" y="0"/>
                </a:moveTo>
                <a:lnTo>
                  <a:pt x="1033" y="0"/>
                </a:lnTo>
                <a:lnTo>
                  <a:pt x="1033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762440" y="2285640"/>
            <a:ext cx="3743640" cy="19440"/>
          </a:xfrm>
          <a:custGeom>
            <a:avLst/>
            <a:gdLst/>
            <a:ahLst/>
            <a:rect l="0" t="0" r="r" b="b"/>
            <a:pathLst>
              <a:path w="10399" h="54">
                <a:moveTo>
                  <a:pt x="0" y="0"/>
                </a:moveTo>
                <a:lnTo>
                  <a:pt x="10399" y="0"/>
                </a:lnTo>
                <a:lnTo>
                  <a:pt x="1039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8505720" y="2285640"/>
            <a:ext cx="371880" cy="19440"/>
          </a:xfrm>
          <a:custGeom>
            <a:avLst/>
            <a:gdLst/>
            <a:ahLst/>
            <a:rect l="0" t="0" r="r" b="b"/>
            <a:pathLst>
              <a:path w="1033" h="54">
                <a:moveTo>
                  <a:pt x="0" y="0"/>
                </a:moveTo>
                <a:lnTo>
                  <a:pt x="1033" y="0"/>
                </a:lnTo>
                <a:lnTo>
                  <a:pt x="103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62440" y="2647800"/>
            <a:ext cx="3743640" cy="9720"/>
          </a:xfrm>
          <a:custGeom>
            <a:avLst/>
            <a:gdLst/>
            <a:ahLst/>
            <a:rect l="0" t="0" r="r" b="b"/>
            <a:pathLst>
              <a:path w="10399" h="27">
                <a:moveTo>
                  <a:pt x="0" y="0"/>
                </a:moveTo>
                <a:lnTo>
                  <a:pt x="10399" y="0"/>
                </a:lnTo>
                <a:lnTo>
                  <a:pt x="103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8505720" y="2647800"/>
            <a:ext cx="371880" cy="9720"/>
          </a:xfrm>
          <a:custGeom>
            <a:avLst/>
            <a:gdLst/>
            <a:ahLst/>
            <a:rect l="0" t="0" r="r" b="b"/>
            <a:pathLst>
              <a:path w="1033" h="27">
                <a:moveTo>
                  <a:pt x="0" y="0"/>
                </a:moveTo>
                <a:lnTo>
                  <a:pt x="1033" y="0"/>
                </a:lnTo>
                <a:lnTo>
                  <a:pt x="103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762440" y="300960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8505720" y="300960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762440" y="3362040"/>
            <a:ext cx="3743640" cy="10080"/>
          </a:xfrm>
          <a:custGeom>
            <a:avLst/>
            <a:gdLst/>
            <a:ahLst/>
            <a:rect l="0" t="0" r="r" b="b"/>
            <a:pathLst>
              <a:path w="10399" h="28">
                <a:moveTo>
                  <a:pt x="0" y="0"/>
                </a:moveTo>
                <a:lnTo>
                  <a:pt x="10399" y="0"/>
                </a:lnTo>
                <a:lnTo>
                  <a:pt x="103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505720" y="3362040"/>
            <a:ext cx="371880" cy="10080"/>
          </a:xfrm>
          <a:custGeom>
            <a:avLst/>
            <a:gdLst/>
            <a:ahLst/>
            <a:rect l="0" t="0" r="r" b="b"/>
            <a:pathLst>
              <a:path w="1033" h="28">
                <a:moveTo>
                  <a:pt x="0" y="0"/>
                </a:moveTo>
                <a:lnTo>
                  <a:pt x="1033" y="0"/>
                </a:lnTo>
                <a:lnTo>
                  <a:pt x="10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4865040" y="2396880"/>
            <a:ext cx="278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OC-SIS en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860904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860904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860904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4758480" y="3507480"/>
            <a:ext cx="464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drie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0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0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81" name=""/>
          <p:cNvSpPr txBox="1"/>
          <p:nvPr/>
        </p:nvSpPr>
        <p:spPr>
          <a:xfrm>
            <a:off x="439920" y="99612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56840" y="1933560"/>
            <a:ext cx="896040" cy="304920"/>
          </a:xfrm>
          <a:custGeom>
            <a:avLst/>
            <a:gdLst/>
            <a:ahLst/>
            <a:rect l="0" t="0" r="r" b="b"/>
            <a:pathLst>
              <a:path w="2489" h="847">
                <a:moveTo>
                  <a:pt x="0" y="0"/>
                </a:moveTo>
                <a:lnTo>
                  <a:pt x="2489" y="0"/>
                </a:lnTo>
                <a:lnTo>
                  <a:pt x="2489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1352520" y="1933560"/>
            <a:ext cx="3219480" cy="304920"/>
          </a:xfrm>
          <a:custGeom>
            <a:avLst/>
            <a:gdLst/>
            <a:ahLst/>
            <a:rect l="0" t="0" r="r" b="b"/>
            <a:pathLst>
              <a:path w="8943" h="847">
                <a:moveTo>
                  <a:pt x="0" y="0"/>
                </a:moveTo>
                <a:lnTo>
                  <a:pt x="8943" y="0"/>
                </a:lnTo>
                <a:lnTo>
                  <a:pt x="894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56840" y="2228760"/>
            <a:ext cx="896040" cy="19440"/>
          </a:xfrm>
          <a:custGeom>
            <a:avLst/>
            <a:gdLst/>
            <a:ahLst/>
            <a:rect l="0" t="0" r="r" b="b"/>
            <a:pathLst>
              <a:path w="2489" h="54">
                <a:moveTo>
                  <a:pt x="0" y="0"/>
                </a:moveTo>
                <a:lnTo>
                  <a:pt x="2489" y="0"/>
                </a:lnTo>
                <a:lnTo>
                  <a:pt x="24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1352520" y="2228760"/>
            <a:ext cx="3219480" cy="19440"/>
          </a:xfrm>
          <a:custGeom>
            <a:avLst/>
            <a:gdLst/>
            <a:ahLst/>
            <a:rect l="0" t="0" r="r" b="b"/>
            <a:pathLst>
              <a:path w="8943" h="54">
                <a:moveTo>
                  <a:pt x="0" y="0"/>
                </a:moveTo>
                <a:lnTo>
                  <a:pt x="8943" y="0"/>
                </a:lnTo>
                <a:lnTo>
                  <a:pt x="89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56840" y="287640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1352520" y="287640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456840" y="3524040"/>
            <a:ext cx="896040" cy="10080"/>
          </a:xfrm>
          <a:custGeom>
            <a:avLst/>
            <a:gdLst/>
            <a:ahLst/>
            <a:rect l="0" t="0" r="r" b="b"/>
            <a:pathLst>
              <a:path w="2489" h="28">
                <a:moveTo>
                  <a:pt x="0" y="0"/>
                </a:moveTo>
                <a:lnTo>
                  <a:pt x="2489" y="0"/>
                </a:lnTo>
                <a:lnTo>
                  <a:pt x="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1352520" y="3524040"/>
            <a:ext cx="3219480" cy="10080"/>
          </a:xfrm>
          <a:custGeom>
            <a:avLst/>
            <a:gdLst/>
            <a:ahLst/>
            <a:rect l="0" t="0" r="r" b="b"/>
            <a:pathLst>
              <a:path w="8943" h="28">
                <a:moveTo>
                  <a:pt x="0" y="0"/>
                </a:moveTo>
                <a:lnTo>
                  <a:pt x="8943" y="0"/>
                </a:lnTo>
                <a:lnTo>
                  <a:pt x="89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56840" y="3914640"/>
            <a:ext cx="896040" cy="9720"/>
          </a:xfrm>
          <a:custGeom>
            <a:avLst/>
            <a:gdLst/>
            <a:ahLst/>
            <a:rect l="0" t="0" r="r" b="b"/>
            <a:pathLst>
              <a:path w="2489" h="27">
                <a:moveTo>
                  <a:pt x="0" y="0"/>
                </a:moveTo>
                <a:lnTo>
                  <a:pt x="2489" y="0"/>
                </a:lnTo>
                <a:lnTo>
                  <a:pt x="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1352520" y="3914640"/>
            <a:ext cx="3219480" cy="9720"/>
          </a:xfrm>
          <a:custGeom>
            <a:avLst/>
            <a:gdLst/>
            <a:ahLst/>
            <a:rect l="0" t="0" r="r" b="b"/>
            <a:pathLst>
              <a:path w="8943" h="27">
                <a:moveTo>
                  <a:pt x="0" y="0"/>
                </a:moveTo>
                <a:lnTo>
                  <a:pt x="8943" y="0"/>
                </a:lnTo>
                <a:lnTo>
                  <a:pt x="89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57200" y="1599120"/>
            <a:ext cx="7758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De vraag van Kees op 15 september: geef elke koppeling een naam die in een gesprek meteen duidelijk is.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63760" y="2022120"/>
            <a:ext cx="654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VOORSTEL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462680" y="2022120"/>
            <a:ext cx="707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63760" y="2349360"/>
            <a:ext cx="736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OC-P&amp;R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462680" y="2349360"/>
            <a:ext cx="292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planning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1462680" y="2597040"/>
            <a:ext cx="858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roostering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63760" y="2987640"/>
            <a:ext cx="64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OC-SIS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1462680" y="2987640"/>
            <a:ext cx="18813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462680" y="3244680"/>
            <a:ext cx="1755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studentadministratie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563760" y="3625920"/>
            <a:ext cx="730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OC-LMS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4762440" y="1933560"/>
            <a:ext cx="4115160" cy="1285920"/>
          </a:xfrm>
          <a:custGeom>
            <a:avLst/>
            <a:gdLst/>
            <a:ahLst/>
            <a:rect l="0" t="0" r="r" b="b"/>
            <a:pathLst>
              <a:path w="11431" h="3572">
                <a:moveTo>
                  <a:pt x="0" y="0"/>
                </a:moveTo>
                <a:lnTo>
                  <a:pt x="11431" y="0"/>
                </a:lnTo>
                <a:lnTo>
                  <a:pt x="1143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762440" y="193356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4762440" y="32097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8867520" y="1933560"/>
            <a:ext cx="10080" cy="1285920"/>
          </a:xfrm>
          <a:custGeom>
            <a:avLst/>
            <a:gdLst/>
            <a:ahLst/>
            <a:rect l="0" t="0" r="r" b="b"/>
            <a:pathLst>
              <a:path w="28" h="3572">
                <a:moveTo>
                  <a:pt x="0" y="105"/>
                </a:moveTo>
                <a:lnTo>
                  <a:pt x="0" y="3572"/>
                </a:lnTo>
                <a:lnTo>
                  <a:pt x="28" y="357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4762440" y="1933560"/>
            <a:ext cx="9720" cy="1285920"/>
          </a:xfrm>
          <a:custGeom>
            <a:avLst/>
            <a:gdLst/>
            <a:ahLst/>
            <a:rect l="0" t="0" r="r" b="b"/>
            <a:pathLst>
              <a:path w="27" h="3572">
                <a:moveTo>
                  <a:pt x="0" y="0"/>
                </a:moveTo>
                <a:lnTo>
                  <a:pt x="0" y="3572"/>
                </a:lnTo>
                <a:lnTo>
                  <a:pt x="27" y="357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462680" y="3625920"/>
            <a:ext cx="3092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 en leeromgeving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4943160" y="2158920"/>
            <a:ext cx="22122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het voorstel regelt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4943160" y="2456640"/>
            <a:ext cx="4327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korte, stabiele ID naast de volledige naam; beide richtingen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4943160" y="2666520"/>
            <a:ext cx="4176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in een speciﬁcatie; dezelfde ID in berichtstromen, diensten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4943160" y="28760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6400440" y="422892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1" y="0"/>
                </a:lnTo>
                <a:lnTo>
                  <a:pt x="471" y="27"/>
                </a:lnTo>
                <a:lnTo>
                  <a:pt x="391" y="27"/>
                </a:lnTo>
                <a:lnTo>
                  <a:pt x="391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7"/>
                </a:lnTo>
                <a:lnTo>
                  <a:pt x="522" y="27"/>
                </a:lnTo>
                <a:lnTo>
                  <a:pt x="522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2" y="0"/>
                </a:lnTo>
                <a:lnTo>
                  <a:pt x="862" y="27"/>
                </a:lnTo>
                <a:lnTo>
                  <a:pt x="782" y="27"/>
                </a:lnTo>
                <a:lnTo>
                  <a:pt x="782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7"/>
                </a:lnTo>
                <a:lnTo>
                  <a:pt x="913" y="27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7"/>
                </a:lnTo>
                <a:lnTo>
                  <a:pt x="1044" y="27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4" y="0"/>
                </a:lnTo>
                <a:lnTo>
                  <a:pt x="1514" y="27"/>
                </a:lnTo>
                <a:lnTo>
                  <a:pt x="1434" y="27"/>
                </a:lnTo>
                <a:lnTo>
                  <a:pt x="1434" y="0"/>
                </a:lnTo>
                <a:moveTo>
                  <a:pt x="1565" y="0"/>
                </a:moveTo>
                <a:lnTo>
                  <a:pt x="1644" y="0"/>
                </a:lnTo>
                <a:lnTo>
                  <a:pt x="1644" y="27"/>
                </a:lnTo>
                <a:lnTo>
                  <a:pt x="1565" y="27"/>
                </a:lnTo>
                <a:lnTo>
                  <a:pt x="1565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57200" y="4078800"/>
            <a:ext cx="758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voorbeelduitwerking gebruikt deze ID's al, zodat direct zichtbaar is wat het oplevert. Uitwerking in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2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1890720" y="3199320"/>
            <a:ext cx="622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koppeling-ID: OC-P&amp;R, OC-SIS en OC-LMS,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70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921960" y="2299680"/>
            <a:ext cx="5749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Invulblad terug: per objecttype de eigen naam en de eigen plek in het model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93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